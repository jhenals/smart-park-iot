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  <p:sldMasterId id="2147483656" r:id="rId3"/>
  </p:sldMasterIdLst>
  <p:notesMasterIdLst>
    <p:notesMasterId r:id="rId21"/>
  </p:notesMasterIdLst>
  <p:sldIdLst>
    <p:sldId id="256" r:id="rId4"/>
    <p:sldId id="257" r:id="rId5"/>
    <p:sldId id="259" r:id="rId6"/>
    <p:sldId id="261" r:id="rId7"/>
    <p:sldId id="263" r:id="rId8"/>
    <p:sldId id="280" r:id="rId9"/>
    <p:sldId id="265" r:id="rId10"/>
    <p:sldId id="294" r:id="rId11"/>
    <p:sldId id="275" r:id="rId12"/>
    <p:sldId id="293" r:id="rId13"/>
    <p:sldId id="267" r:id="rId14"/>
    <p:sldId id="292" r:id="rId15"/>
    <p:sldId id="269" r:id="rId16"/>
    <p:sldId id="291" r:id="rId17"/>
    <p:sldId id="290" r:id="rId18"/>
    <p:sldId id="271" r:id="rId19"/>
    <p:sldId id="273" r:id="rId20"/>
  </p:sldIdLst>
  <p:sldSz cx="9144000" cy="5143500" type="screen16x9"/>
  <p:notesSz cx="5143500" cy="9144000"/>
  <p:defaultTextStyle>
    <a:lvl1pPr marL="0" algn="l" defTabSz="9143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66" algn="l" defTabSz="9143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33" algn="l" defTabSz="9143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98" algn="l" defTabSz="9143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64" algn="l" defTabSz="9143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29" algn="l" defTabSz="9143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95" algn="l" defTabSz="9143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160" algn="l" defTabSz="9143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326" algn="l" defTabSz="9143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8" d="100"/>
          <a:sy n="98" d="100"/>
        </p:scale>
        <p:origin x="-284" y="1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71F61E-950D-4B5E-9F4C-91D984A9A478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F10B2D-4DE4-4D2A-80B1-C1F4465AB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909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3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66" algn="l" defTabSz="91433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33" algn="l" defTabSz="91433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98" algn="l" defTabSz="91433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64" algn="l" defTabSz="91433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29" algn="l" defTabSz="91433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95" algn="l" defTabSz="91433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60" algn="l" defTabSz="91433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326" algn="l" defTabSz="91433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66FCF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6309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1" i="0">
                <a:solidFill>
                  <a:srgbClr val="66FCF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8707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9206" y="213732"/>
            <a:ext cx="6372135" cy="415498"/>
          </a:xfrm>
        </p:spPr>
        <p:txBody>
          <a:bodyPr lIns="0" tIns="0" rIns="0" bIns="0"/>
          <a:lstStyle>
            <a:lvl1pPr>
              <a:defRPr sz="2700" b="1" i="0">
                <a:solidFill>
                  <a:srgbClr val="66FCF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19390" y="1893558"/>
            <a:ext cx="3705227" cy="630942"/>
          </a:xfrm>
        </p:spPr>
        <p:txBody>
          <a:bodyPr lIns="0" tIns="0" rIns="0" bIns="0"/>
          <a:lstStyle>
            <a:lvl1pPr>
              <a:defRPr sz="4100" b="1" i="0">
                <a:solidFill>
                  <a:srgbClr val="66FCF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3964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9206" y="213732"/>
            <a:ext cx="6372135" cy="415498"/>
          </a:xfrm>
        </p:spPr>
        <p:txBody>
          <a:bodyPr lIns="0" tIns="0" rIns="0" bIns="0"/>
          <a:lstStyle>
            <a:lvl1pPr>
              <a:defRPr sz="2700" b="1" i="0">
                <a:solidFill>
                  <a:srgbClr val="66FCF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8"/>
            <a:ext cx="3977640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8"/>
            <a:ext cx="3977640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2579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B0C10"/>
          </a:solidFill>
        </p:spPr>
        <p:txBody>
          <a:bodyPr wrap="square" lIns="0" tIns="0" rIns="0" bIns="0" rtlCol="0"/>
          <a:lstStyle/>
          <a:p>
            <a:endParaRPr kern="0" smtClean="0">
              <a:solidFill>
                <a:sysClr val="windowText" lastClr="000000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9206" y="213732"/>
            <a:ext cx="6372135" cy="415498"/>
          </a:xfrm>
        </p:spPr>
        <p:txBody>
          <a:bodyPr lIns="0" tIns="0" rIns="0" bIns="0"/>
          <a:lstStyle>
            <a:lvl1pPr>
              <a:defRPr sz="2700" b="1" i="0">
                <a:solidFill>
                  <a:srgbClr val="66FCF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5665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4784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66FCF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6309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1" i="0">
                <a:solidFill>
                  <a:srgbClr val="66FCF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6007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9206" y="213732"/>
            <a:ext cx="6372135" cy="415498"/>
          </a:xfrm>
        </p:spPr>
        <p:txBody>
          <a:bodyPr lIns="0" tIns="0" rIns="0" bIns="0"/>
          <a:lstStyle>
            <a:lvl1pPr>
              <a:defRPr sz="2700" b="1" i="0">
                <a:solidFill>
                  <a:srgbClr val="66FCF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19389" y="1893558"/>
            <a:ext cx="3705227" cy="630942"/>
          </a:xfrm>
        </p:spPr>
        <p:txBody>
          <a:bodyPr lIns="0" tIns="0" rIns="0" bIns="0"/>
          <a:lstStyle>
            <a:lvl1pPr>
              <a:defRPr sz="4100" b="1" i="0">
                <a:solidFill>
                  <a:srgbClr val="66FCF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3813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9206" y="213732"/>
            <a:ext cx="6372135" cy="415498"/>
          </a:xfrm>
        </p:spPr>
        <p:txBody>
          <a:bodyPr lIns="0" tIns="0" rIns="0" bIns="0"/>
          <a:lstStyle>
            <a:lvl1pPr>
              <a:defRPr sz="2700" b="1" i="0">
                <a:solidFill>
                  <a:srgbClr val="66FCF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7"/>
            <a:ext cx="3977640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7"/>
            <a:ext cx="3977640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0267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B0C10"/>
          </a:solidFill>
        </p:spPr>
        <p:txBody>
          <a:bodyPr wrap="square" lIns="0" tIns="0" rIns="0" bIns="0" rtlCol="0"/>
          <a:lstStyle/>
          <a:p>
            <a:pPr defTabSz="914355"/>
            <a:endParaRPr kern="0" smtClean="0">
              <a:solidFill>
                <a:sysClr val="windowText" lastClr="000000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9206" y="213732"/>
            <a:ext cx="6372135" cy="415498"/>
          </a:xfrm>
        </p:spPr>
        <p:txBody>
          <a:bodyPr lIns="0" tIns="0" rIns="0" bIns="0"/>
          <a:lstStyle>
            <a:lvl1pPr>
              <a:defRPr sz="2700" b="1" i="0">
                <a:solidFill>
                  <a:srgbClr val="66FCF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7216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6107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333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75" indent="-342875" algn="l" defTabSz="914333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95" indent="-285729" algn="l" defTabSz="914333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5" indent="-228582" algn="l" defTabSz="91433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2" algn="l" defTabSz="914333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6" indent="-228582" algn="l" defTabSz="914333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1" indent="-228582" algn="l" defTabSz="91433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2" algn="l" defTabSz="91433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2" algn="l" defTabSz="91433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09" indent="-228582" algn="l" defTabSz="91433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3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29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9206" y="213730"/>
            <a:ext cx="63721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66FCF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19390" y="1893561"/>
            <a:ext cx="3705227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rgbClr val="66FCF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7"/>
            <a:ext cx="2926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er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7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kern="0">
                <a:solidFill>
                  <a:prstClr val="black">
                    <a:tint val="75000"/>
                  </a:prstClr>
                </a:solidFill>
              </a:rPr>
              <a:pPr/>
              <a:t>2/24/2026</a:t>
            </a:fld>
            <a:endParaRPr lang="en-US" ker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7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ker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kern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1293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42875">
        <a:defRPr>
          <a:latin typeface="+mn-lt"/>
          <a:ea typeface="+mn-ea"/>
          <a:cs typeface="+mn-cs"/>
        </a:defRPr>
      </a:lvl2pPr>
      <a:lvl3pPr marL="685749">
        <a:defRPr>
          <a:latin typeface="+mn-lt"/>
          <a:ea typeface="+mn-ea"/>
          <a:cs typeface="+mn-cs"/>
        </a:defRPr>
      </a:lvl3pPr>
      <a:lvl4pPr marL="1028624">
        <a:defRPr>
          <a:latin typeface="+mn-lt"/>
          <a:ea typeface="+mn-ea"/>
          <a:cs typeface="+mn-cs"/>
        </a:defRPr>
      </a:lvl4pPr>
      <a:lvl5pPr marL="1371498">
        <a:defRPr>
          <a:latin typeface="+mn-lt"/>
          <a:ea typeface="+mn-ea"/>
          <a:cs typeface="+mn-cs"/>
        </a:defRPr>
      </a:lvl5pPr>
      <a:lvl6pPr marL="1714373">
        <a:defRPr>
          <a:latin typeface="+mn-lt"/>
          <a:ea typeface="+mn-ea"/>
          <a:cs typeface="+mn-cs"/>
        </a:defRPr>
      </a:lvl6pPr>
      <a:lvl7pPr marL="2057246">
        <a:defRPr>
          <a:latin typeface="+mn-lt"/>
          <a:ea typeface="+mn-ea"/>
          <a:cs typeface="+mn-cs"/>
        </a:defRPr>
      </a:lvl7pPr>
      <a:lvl8pPr marL="2400120">
        <a:defRPr>
          <a:latin typeface="+mn-lt"/>
          <a:ea typeface="+mn-ea"/>
          <a:cs typeface="+mn-cs"/>
        </a:defRPr>
      </a:lvl8pPr>
      <a:lvl9pPr marL="2742995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42875">
        <a:defRPr>
          <a:latin typeface="+mn-lt"/>
          <a:ea typeface="+mn-ea"/>
          <a:cs typeface="+mn-cs"/>
        </a:defRPr>
      </a:lvl2pPr>
      <a:lvl3pPr marL="685749">
        <a:defRPr>
          <a:latin typeface="+mn-lt"/>
          <a:ea typeface="+mn-ea"/>
          <a:cs typeface="+mn-cs"/>
        </a:defRPr>
      </a:lvl3pPr>
      <a:lvl4pPr marL="1028624">
        <a:defRPr>
          <a:latin typeface="+mn-lt"/>
          <a:ea typeface="+mn-ea"/>
          <a:cs typeface="+mn-cs"/>
        </a:defRPr>
      </a:lvl4pPr>
      <a:lvl5pPr marL="1371498">
        <a:defRPr>
          <a:latin typeface="+mn-lt"/>
          <a:ea typeface="+mn-ea"/>
          <a:cs typeface="+mn-cs"/>
        </a:defRPr>
      </a:lvl5pPr>
      <a:lvl6pPr marL="1714373">
        <a:defRPr>
          <a:latin typeface="+mn-lt"/>
          <a:ea typeface="+mn-ea"/>
          <a:cs typeface="+mn-cs"/>
        </a:defRPr>
      </a:lvl6pPr>
      <a:lvl7pPr marL="2057246">
        <a:defRPr>
          <a:latin typeface="+mn-lt"/>
          <a:ea typeface="+mn-ea"/>
          <a:cs typeface="+mn-cs"/>
        </a:defRPr>
      </a:lvl7pPr>
      <a:lvl8pPr marL="2400120">
        <a:defRPr>
          <a:latin typeface="+mn-lt"/>
          <a:ea typeface="+mn-ea"/>
          <a:cs typeface="+mn-cs"/>
        </a:defRPr>
      </a:lvl8pPr>
      <a:lvl9pPr marL="2742995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9206" y="213730"/>
            <a:ext cx="63721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66FCF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19389" y="1893560"/>
            <a:ext cx="3705227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rgbClr val="66FCF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7"/>
            <a:ext cx="2926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355"/>
            <a:endParaRPr lang="en-US" ker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7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355"/>
            <a:fld id="{1D8BD707-D9CF-40AE-B4C6-C98DA3205C09}" type="datetimeFigureOut">
              <a:rPr lang="en-US" kern="0" smtClean="0">
                <a:solidFill>
                  <a:prstClr val="black">
                    <a:tint val="75000"/>
                  </a:prstClr>
                </a:solidFill>
              </a:rPr>
              <a:pPr defTabSz="914355"/>
              <a:t>2/24/2026</a:t>
            </a:fld>
            <a:endParaRPr lang="en-US" ker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7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355"/>
            <a:fld id="{B6F15528-21DE-4FAA-801E-634DDDAF4B2B}" type="slidenum">
              <a:rPr lang="en-US" kern="0" smtClean="0">
                <a:solidFill>
                  <a:prstClr val="black">
                    <a:tint val="75000"/>
                  </a:prstClr>
                </a:solidFill>
              </a:rPr>
              <a:pPr defTabSz="914355"/>
              <a:t>‹#›</a:t>
            </a:fld>
            <a:endParaRPr lang="en-US" kern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7978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42884">
        <a:defRPr>
          <a:latin typeface="+mn-lt"/>
          <a:ea typeface="+mn-ea"/>
          <a:cs typeface="+mn-cs"/>
        </a:defRPr>
      </a:lvl2pPr>
      <a:lvl3pPr marL="685766">
        <a:defRPr>
          <a:latin typeface="+mn-lt"/>
          <a:ea typeface="+mn-ea"/>
          <a:cs typeface="+mn-cs"/>
        </a:defRPr>
      </a:lvl3pPr>
      <a:lvl4pPr marL="1028649">
        <a:defRPr>
          <a:latin typeface="+mn-lt"/>
          <a:ea typeface="+mn-ea"/>
          <a:cs typeface="+mn-cs"/>
        </a:defRPr>
      </a:lvl4pPr>
      <a:lvl5pPr marL="1371532">
        <a:defRPr>
          <a:latin typeface="+mn-lt"/>
          <a:ea typeface="+mn-ea"/>
          <a:cs typeface="+mn-cs"/>
        </a:defRPr>
      </a:lvl5pPr>
      <a:lvl6pPr marL="1714415">
        <a:defRPr>
          <a:latin typeface="+mn-lt"/>
          <a:ea typeface="+mn-ea"/>
          <a:cs typeface="+mn-cs"/>
        </a:defRPr>
      </a:lvl6pPr>
      <a:lvl7pPr marL="2057297">
        <a:defRPr>
          <a:latin typeface="+mn-lt"/>
          <a:ea typeface="+mn-ea"/>
          <a:cs typeface="+mn-cs"/>
        </a:defRPr>
      </a:lvl7pPr>
      <a:lvl8pPr marL="2400180">
        <a:defRPr>
          <a:latin typeface="+mn-lt"/>
          <a:ea typeface="+mn-ea"/>
          <a:cs typeface="+mn-cs"/>
        </a:defRPr>
      </a:lvl8pPr>
      <a:lvl9pPr marL="2743064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42884">
        <a:defRPr>
          <a:latin typeface="+mn-lt"/>
          <a:ea typeface="+mn-ea"/>
          <a:cs typeface="+mn-cs"/>
        </a:defRPr>
      </a:lvl2pPr>
      <a:lvl3pPr marL="685766">
        <a:defRPr>
          <a:latin typeface="+mn-lt"/>
          <a:ea typeface="+mn-ea"/>
          <a:cs typeface="+mn-cs"/>
        </a:defRPr>
      </a:lvl3pPr>
      <a:lvl4pPr marL="1028649">
        <a:defRPr>
          <a:latin typeface="+mn-lt"/>
          <a:ea typeface="+mn-ea"/>
          <a:cs typeface="+mn-cs"/>
        </a:defRPr>
      </a:lvl4pPr>
      <a:lvl5pPr marL="1371532">
        <a:defRPr>
          <a:latin typeface="+mn-lt"/>
          <a:ea typeface="+mn-ea"/>
          <a:cs typeface="+mn-cs"/>
        </a:defRPr>
      </a:lvl5pPr>
      <a:lvl6pPr marL="1714415">
        <a:defRPr>
          <a:latin typeface="+mn-lt"/>
          <a:ea typeface="+mn-ea"/>
          <a:cs typeface="+mn-cs"/>
        </a:defRPr>
      </a:lvl6pPr>
      <a:lvl7pPr marL="2057297">
        <a:defRPr>
          <a:latin typeface="+mn-lt"/>
          <a:ea typeface="+mn-ea"/>
          <a:cs typeface="+mn-cs"/>
        </a:defRPr>
      </a:lvl7pPr>
      <a:lvl8pPr marL="2400180">
        <a:defRPr>
          <a:latin typeface="+mn-lt"/>
          <a:ea typeface="+mn-ea"/>
          <a:cs typeface="+mn-cs"/>
        </a:defRPr>
      </a:lvl8pPr>
      <a:lvl9pPr marL="2743064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9A8"/>
          </a:solidFill>
          <a:ln w="12700">
            <a:solidFill>
              <a:srgbClr val="00D9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9A8"/>
          </a:solidFill>
          <a:ln w="12700">
            <a:solidFill>
              <a:srgbClr val="00D9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" y="1005840"/>
            <a:ext cx="9089136" cy="4572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" y="1783080"/>
            <a:ext cx="9089136" cy="4572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" y="2560320"/>
            <a:ext cx="9089136" cy="4572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11480"/>
            <a:ext cx="1463040" cy="274320"/>
          </a:xfrm>
          <a:prstGeom prst="rect">
            <a:avLst/>
          </a:prstGeom>
          <a:solidFill>
            <a:srgbClr val="00D9A8"/>
          </a:solidFill>
          <a:ln w="12700">
            <a:solidFill>
              <a:srgbClr val="00D9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11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0D1117"/>
                </a:solidFill>
              </a:rPr>
              <a:t>SMART IoT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589520" y="274320"/>
            <a:ext cx="1188720" cy="1188720"/>
          </a:xfrm>
          <a:prstGeom prst="rect">
            <a:avLst/>
          </a:prstGeom>
          <a:solidFill>
            <a:srgbClr val="1C2333"/>
          </a:solidFill>
          <a:ln w="19050">
            <a:solidFill>
              <a:srgbClr val="00D9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0" y="2743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00D9A8"/>
                </a:solidFill>
              </a:rPr>
              <a:t>IoT</a:t>
            </a:r>
            <a:endParaRPr lang="en-US" sz="1300" dirty="0"/>
          </a:p>
          <a:p>
            <a:pPr algn="ctr"/>
            <a:r>
              <a:rPr lang="en-US" sz="700" dirty="0">
                <a:solidFill>
                  <a:srgbClr val="8B949E"/>
                </a:solidFill>
              </a:rPr>
              <a:t>PROJECT</a:t>
            </a:r>
            <a:endParaRPr lang="en-US" sz="1300" dirty="0"/>
          </a:p>
          <a:p>
            <a:pPr algn="ctr"/>
            <a:r>
              <a:rPr lang="en-US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1010413"/>
            <a:ext cx="6858000" cy="1575524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pPr>
              <a:lnSpc>
                <a:spcPct val="110000"/>
              </a:lnSpc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Arial Black" pitchFamily="34" charset="-122"/>
                <a:cs typeface="Arial Black" pitchFamily="34" charset="-120"/>
              </a:rPr>
              <a:t>Environmental Monitoring</a:t>
            </a:r>
            <a:endParaRPr lang="en-US" sz="3600" dirty="0">
              <a:latin typeface="Trebuchet MS" pitchFamily="34" charset="0"/>
            </a:endParaRPr>
          </a:p>
          <a:p>
            <a:pPr>
              <a:lnSpc>
                <a:spcPct val="110000"/>
              </a:lnSpc>
            </a:pPr>
            <a:r>
              <a:rPr lang="en-US" i="1" dirty="0">
                <a:solidFill>
                  <a:srgbClr val="00D9A8"/>
                </a:solidFill>
                <a:latin typeface="Trebuchet MS" pitchFamily="34" charset="0"/>
              </a:rPr>
              <a:t>Using Robustel EG5120 Gateway </a:t>
            </a:r>
            <a:r>
              <a:rPr lang="en-US" i="1" dirty="0" smtClean="0">
                <a:solidFill>
                  <a:srgbClr val="00D9A8"/>
                </a:solidFill>
                <a:latin typeface="Trebuchet MS" pitchFamily="34" charset="0"/>
              </a:rPr>
              <a:t>and </a:t>
            </a:r>
            <a:r>
              <a:rPr lang="en-US" i="1" dirty="0">
                <a:solidFill>
                  <a:srgbClr val="00D9A8"/>
                </a:solidFill>
                <a:latin typeface="Trebuchet MS" pitchFamily="34" charset="0"/>
              </a:rPr>
              <a:t>S6000U Sensor</a:t>
            </a:r>
            <a:endParaRPr lang="en-US" dirty="0">
              <a:latin typeface="Trebuchet MS" pitchFamily="34" charset="0"/>
            </a:endParaRPr>
          </a:p>
          <a:p>
            <a:pPr>
              <a:lnSpc>
                <a:spcPct val="110000"/>
              </a:lnSpc>
            </a:pPr>
            <a:endParaRPr lang="en-US" sz="3600" dirty="0">
              <a:latin typeface="Trebuchet MS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2606040"/>
            <a:ext cx="6858000" cy="41148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2834478"/>
            <a:ext cx="8229600" cy="27432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1200" dirty="0">
                <a:solidFill>
                  <a:schemeClr val="bg1"/>
                </a:solidFill>
                <a:latin typeface="Courier New"/>
                <a:cs typeface="Courier New"/>
              </a:rPr>
              <a:t>Machine Learning Edge Intelligence  |  Telecommunication Engineering Program</a:t>
            </a:r>
          </a:p>
        </p:txBody>
      </p:sp>
      <p:sp>
        <p:nvSpPr>
          <p:cNvPr id="17" name="Text 15"/>
          <p:cNvSpPr/>
          <p:nvPr/>
        </p:nvSpPr>
        <p:spPr>
          <a:xfrm>
            <a:off x="457200" y="3313890"/>
            <a:ext cx="8229600" cy="466928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1200" dirty="0">
                <a:solidFill>
                  <a:schemeClr val="bg1"/>
                </a:solidFill>
                <a:latin typeface="Courier New"/>
                <a:cs typeface="Courier New"/>
              </a:rPr>
              <a:t>Sisay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Courier New"/>
                <a:cs typeface="Courier New"/>
              </a:rPr>
              <a:t>Desalegn</a:t>
            </a:r>
            <a:r>
              <a:rPr lang="en-US" sz="900" dirty="0">
                <a:solidFill>
                  <a:schemeClr val="bg1"/>
                </a:solidFill>
              </a:rPr>
              <a:t>  </a:t>
            </a:r>
            <a:r>
              <a:rPr lang="en-US" sz="1200" dirty="0">
                <a:solidFill>
                  <a:schemeClr val="bg1"/>
                </a:solidFill>
                <a:latin typeface="Courier New"/>
                <a:cs typeface="Courier New"/>
              </a:rPr>
              <a:t>•  Yonas Yifter  •  Zakariye Hassan  •  Meron Temesgen  •  Jhena Subol  •  Husayn Ismail  •  Rima Kasem</a:t>
            </a:r>
          </a:p>
        </p:txBody>
      </p:sp>
      <p:sp>
        <p:nvSpPr>
          <p:cNvPr id="18" name="Text 16"/>
          <p:cNvSpPr/>
          <p:nvPr/>
        </p:nvSpPr>
        <p:spPr>
          <a:xfrm>
            <a:off x="457200" y="3832700"/>
            <a:ext cx="8229600" cy="476655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1200" dirty="0">
                <a:solidFill>
                  <a:schemeClr val="bg1"/>
                </a:solidFill>
                <a:latin typeface="Courier New"/>
                <a:cs typeface="Courier New"/>
              </a:rPr>
              <a:t>Supervisor: Prof</a:t>
            </a:r>
            <a:r>
              <a:rPr lang="en-US" sz="1200" dirty="0">
                <a:solidFill>
                  <a:schemeClr val="bg1"/>
                </a:solidFill>
              </a:rPr>
              <a:t>. </a:t>
            </a:r>
            <a:r>
              <a:rPr lang="en-US" sz="1200" dirty="0">
                <a:solidFill>
                  <a:schemeClr val="bg1"/>
                </a:solidFill>
                <a:latin typeface="Courier New"/>
                <a:cs typeface="Courier New"/>
              </a:rPr>
              <a:t>Vincenzo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Courier New"/>
                <a:cs typeface="Courier New"/>
              </a:rPr>
              <a:t>Barbuto</a:t>
            </a:r>
            <a:r>
              <a:rPr lang="en-US" sz="1200" dirty="0">
                <a:solidFill>
                  <a:schemeClr val="bg1"/>
                </a:solidFill>
              </a:rPr>
              <a:t>  </a:t>
            </a:r>
            <a:r>
              <a:rPr lang="en-US" sz="1200" dirty="0">
                <a:solidFill>
                  <a:schemeClr val="bg1"/>
                </a:solidFill>
                <a:latin typeface="Courier New"/>
                <a:cs typeface="Courier New"/>
              </a:rPr>
              <a:t>|  </a:t>
            </a:r>
            <a:r>
              <a:rPr lang="en-US" sz="1200" dirty="0">
                <a:solidFill>
                  <a:schemeClr val="bg1"/>
                </a:solidFill>
                <a:latin typeface="Courier New"/>
                <a:cs typeface="Courier New"/>
              </a:rPr>
              <a:t>UNICAL  |  February 2026</a:t>
            </a:r>
          </a:p>
        </p:txBody>
      </p:sp>
      <p:sp>
        <p:nvSpPr>
          <p:cNvPr id="19" name="Shape 1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pPr algn="r"/>
            <a:r>
              <a:rPr lang="en-US" sz="800" dirty="0">
                <a:solidFill>
                  <a:srgbClr val="8B949E"/>
                </a:solidFill>
              </a:rPr>
              <a:t>UNICAL  • 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9A8"/>
          </a:solidFill>
          <a:ln w="12700">
            <a:solidFill>
              <a:srgbClr val="00D9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Arial Black" pitchFamily="34" charset="-122"/>
                <a:cs typeface="Arial Black" pitchFamily="34" charset="-120"/>
              </a:rPr>
              <a:t>Presentation Overview</a:t>
            </a:r>
            <a:endParaRPr lang="en-US" sz="2000" dirty="0">
              <a:latin typeface="Trebuchet MS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1600" i="1" dirty="0">
                <a:solidFill>
                  <a:srgbClr val="00D9A8"/>
                </a:solidFill>
                <a:latin typeface="Trebuchet MS" pitchFamily="34" charset="0"/>
              </a:rPr>
              <a:t>Agenda</a:t>
            </a:r>
            <a:endParaRPr lang="en-US" sz="1600" dirty="0">
              <a:latin typeface="Trebuchet MS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114800" cy="74980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64008" cy="749808"/>
          </a:xfrm>
          <a:prstGeom prst="rect">
            <a:avLst/>
          </a:prstGeom>
          <a:solidFill>
            <a:srgbClr val="00D9A8"/>
          </a:solidFill>
          <a:ln w="12700">
            <a:solidFill>
              <a:srgbClr val="00D9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08813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0D9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" y="1399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</a:rPr>
              <a:t>Project Introduction</a:t>
            </a:r>
            <a:endParaRPr lang="en-US" sz="1400" dirty="0">
              <a:latin typeface="Trebuchet MS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60120" y="10881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00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5760" y="1965960"/>
            <a:ext cx="4114800" cy="74980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965960"/>
            <a:ext cx="64008" cy="749808"/>
          </a:xfrm>
          <a:prstGeom prst="rect">
            <a:avLst/>
          </a:prstGeom>
          <a:solidFill>
            <a:srgbClr val="00D9A8"/>
          </a:solidFill>
          <a:ln w="12700">
            <a:solidFill>
              <a:srgbClr val="00D9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00253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0D9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" y="23134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</a:rPr>
              <a:t>System Architecture</a:t>
            </a:r>
          </a:p>
        </p:txBody>
      </p:sp>
      <p:sp>
        <p:nvSpPr>
          <p:cNvPr id="14" name="Text 12"/>
          <p:cNvSpPr/>
          <p:nvPr/>
        </p:nvSpPr>
        <p:spPr>
          <a:xfrm>
            <a:off x="960120" y="20025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00" i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65760" y="2880360"/>
            <a:ext cx="64008" cy="749808"/>
          </a:xfrm>
          <a:prstGeom prst="rect">
            <a:avLst/>
          </a:prstGeom>
          <a:solidFill>
            <a:srgbClr val="00D9A8"/>
          </a:solidFill>
          <a:ln w="12700">
            <a:solidFill>
              <a:srgbClr val="00D9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91693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0D9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5488" y="3227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</a:rPr>
              <a:t>Hardware Components</a:t>
            </a:r>
          </a:p>
        </p:txBody>
      </p:sp>
      <p:sp>
        <p:nvSpPr>
          <p:cNvPr id="19" name="Text 17"/>
          <p:cNvSpPr/>
          <p:nvPr/>
        </p:nvSpPr>
        <p:spPr>
          <a:xfrm>
            <a:off x="960120" y="29169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00" i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65760" y="3794760"/>
            <a:ext cx="4114800" cy="74980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794760"/>
            <a:ext cx="64008" cy="749808"/>
          </a:xfrm>
          <a:prstGeom prst="rect">
            <a:avLst/>
          </a:prstGeom>
          <a:solidFill>
            <a:srgbClr val="00D9A8"/>
          </a:solidFill>
          <a:ln w="12700">
            <a:solidFill>
              <a:srgbClr val="00D9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83133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0D9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5488" y="41422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</a:rPr>
              <a:t>Software Stack</a:t>
            </a:r>
          </a:p>
        </p:txBody>
      </p:sp>
      <p:sp>
        <p:nvSpPr>
          <p:cNvPr id="24" name="Text 22"/>
          <p:cNvSpPr/>
          <p:nvPr/>
        </p:nvSpPr>
        <p:spPr>
          <a:xfrm>
            <a:off x="960120" y="38313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00" i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846320" y="1051560"/>
            <a:ext cx="4114800" cy="74980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1051560"/>
            <a:ext cx="64008" cy="749808"/>
          </a:xfrm>
          <a:prstGeom prst="rect">
            <a:avLst/>
          </a:prstGeom>
          <a:solidFill>
            <a:srgbClr val="0EA5E9"/>
          </a:solidFill>
          <a:ln w="12700">
            <a:solidFill>
              <a:srgbClr val="00D9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108813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956048" y="1399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</a:rPr>
              <a:t>Machine Learning</a:t>
            </a:r>
          </a:p>
        </p:txBody>
      </p:sp>
      <p:sp>
        <p:nvSpPr>
          <p:cNvPr id="29" name="Text 27"/>
          <p:cNvSpPr/>
          <p:nvPr/>
        </p:nvSpPr>
        <p:spPr>
          <a:xfrm>
            <a:off x="5440680" y="10881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00" i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846320" y="1965960"/>
            <a:ext cx="4114800" cy="74980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1965960"/>
            <a:ext cx="64008" cy="749808"/>
          </a:xfrm>
          <a:prstGeom prst="rect">
            <a:avLst/>
          </a:prstGeom>
          <a:solidFill>
            <a:srgbClr val="0EA5E9"/>
          </a:solidFill>
          <a:ln w="12700">
            <a:solidFill>
              <a:srgbClr val="00D9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200253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956048" y="23134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</a:rPr>
              <a:t>Web Platform &amp; Chatbot</a:t>
            </a:r>
          </a:p>
        </p:txBody>
      </p:sp>
      <p:sp>
        <p:nvSpPr>
          <p:cNvPr id="34" name="Text 32"/>
          <p:cNvSpPr/>
          <p:nvPr/>
        </p:nvSpPr>
        <p:spPr>
          <a:xfrm>
            <a:off x="5440680" y="20025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00" i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846320" y="2880360"/>
            <a:ext cx="4114800" cy="74980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46320" y="2880360"/>
            <a:ext cx="64008" cy="749808"/>
          </a:xfrm>
          <a:prstGeom prst="rect">
            <a:avLst/>
          </a:prstGeom>
          <a:solidFill>
            <a:srgbClr val="0EA5E9"/>
          </a:solidFill>
          <a:ln w="12700">
            <a:solidFill>
              <a:srgbClr val="00D9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56048" y="291693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956048" y="3227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smtClean="0">
                <a:solidFill>
                  <a:srgbClr val="FFFFFF"/>
                </a:solidFill>
                <a:latin typeface="Trebuchet MS" pitchFamily="34" charset="0"/>
              </a:rPr>
              <a:t>Testing &amp; Deployment</a:t>
            </a:r>
            <a:endParaRPr lang="en-US" sz="1400" b="1" dirty="0">
              <a:solidFill>
                <a:srgbClr val="FFFFFF"/>
              </a:solidFill>
              <a:latin typeface="Trebuchet MS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440680" y="29169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00" i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846320" y="3794760"/>
            <a:ext cx="4114800" cy="74980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46320" y="3794760"/>
            <a:ext cx="64008" cy="749808"/>
          </a:xfrm>
          <a:prstGeom prst="rect">
            <a:avLst/>
          </a:prstGeom>
          <a:solidFill>
            <a:srgbClr val="0EA5E9"/>
          </a:solidFill>
          <a:ln w="12700">
            <a:solidFill>
              <a:srgbClr val="00D9A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56048" y="383133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956048" y="41422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</a:rPr>
              <a:t>Conclusion</a:t>
            </a:r>
          </a:p>
        </p:txBody>
      </p:sp>
      <p:sp>
        <p:nvSpPr>
          <p:cNvPr id="44" name="Text 42"/>
          <p:cNvSpPr/>
          <p:nvPr/>
        </p:nvSpPr>
        <p:spPr>
          <a:xfrm>
            <a:off x="5440680" y="38313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00" i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pPr algn="ctr"/>
            <a:r>
              <a:rPr lang="en-US" sz="800" dirty="0">
                <a:solidFill>
                  <a:srgbClr val="8B949E"/>
                </a:solidFill>
              </a:rPr>
              <a:t>Smart IoT Environmental Monitoring  |  Giganti della Sila Park  |  Telecommunication Engineering Program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9A8"/>
          </a:solidFill>
          <a:ln w="12700">
            <a:solidFill>
              <a:srgbClr val="00D9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2000" b="1" dirty="0">
                <a:solidFill>
                  <a:schemeClr val="bg1"/>
                </a:solidFill>
                <a:latin typeface="Trebuchet MS" pitchFamily="34" charset="0"/>
                <a:ea typeface="Arial Black" pitchFamily="34" charset="-122"/>
                <a:cs typeface="Arial Black" pitchFamily="34" charset="-120"/>
              </a:rPr>
              <a:t>Project Introduction</a:t>
            </a:r>
            <a:endParaRPr lang="en-US" sz="2000" b="1" dirty="0">
              <a:solidFill>
                <a:schemeClr val="bg1"/>
              </a:solidFill>
              <a:latin typeface="Trebuchet MS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1600" i="1" dirty="0">
                <a:solidFill>
                  <a:srgbClr val="00D9A8"/>
                </a:solidFill>
                <a:latin typeface="Trebuchet MS" pitchFamily="34" charset="0"/>
              </a:rPr>
              <a:t>Giganti della Sila Park — Calabria, Italy</a:t>
            </a:r>
            <a:endParaRPr lang="en-US" sz="1600" dirty="0">
              <a:latin typeface="Trebuchet MS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356616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411480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875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0D9A8"/>
                </a:solidFill>
                <a:latin typeface="Trebuchet MS" pitchFamily="34" charset="0"/>
              </a:rPr>
              <a:t>Background</a:t>
            </a:r>
            <a:endParaRPr lang="en-US" sz="1400" dirty="0">
              <a:latin typeface="Trebuchet MS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3749040" cy="82296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GB" sz="1200" i="1" dirty="0" smtClean="0">
                <a:solidFill>
                  <a:srgbClr val="E6EDF3"/>
                </a:solidFill>
                <a:latin typeface="Courier New" pitchFamily="49" charset="0"/>
                <a:cs typeface="Courier New" pitchFamily="49" charset="0"/>
              </a:rPr>
              <a:t>Giganti </a:t>
            </a:r>
            <a:r>
              <a:rPr lang="en-GB" sz="1200" i="1" dirty="0">
                <a:solidFill>
                  <a:srgbClr val="E6EDF3"/>
                </a:solidFill>
                <a:latin typeface="Courier New" pitchFamily="49" charset="0"/>
                <a:cs typeface="Courier New" pitchFamily="49" charset="0"/>
              </a:rPr>
              <a:t>della Sila is a protected mountain park in Calabria, Italy, known for its ancient pine forests, hiking trails, and scenic viewpoints.</a:t>
            </a:r>
            <a:endParaRPr lang="en-US" sz="1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2295144"/>
            <a:ext cx="3749040" cy="438912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pPr marL="342875" indent="-342875"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No real-time environmental intelligence</a:t>
            </a:r>
          </a:p>
        </p:txBody>
      </p:sp>
      <p:sp>
        <p:nvSpPr>
          <p:cNvPr id="10" name="Text 8"/>
          <p:cNvSpPr/>
          <p:nvPr/>
        </p:nvSpPr>
        <p:spPr>
          <a:xfrm>
            <a:off x="457200" y="2734056"/>
            <a:ext cx="3749040" cy="45720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pPr marL="342875" indent="-342875"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Limited predictive visitor guidance</a:t>
            </a:r>
          </a:p>
        </p:txBody>
      </p:sp>
      <p:sp>
        <p:nvSpPr>
          <p:cNvPr id="11" name="Text 9"/>
          <p:cNvSpPr/>
          <p:nvPr/>
        </p:nvSpPr>
        <p:spPr>
          <a:xfrm>
            <a:off x="457200" y="3191258"/>
            <a:ext cx="3749040" cy="531195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pPr marL="342875" indent="-342875"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Manual park management</a:t>
            </a:r>
            <a:r>
              <a:rPr lang="en-US" sz="1000" dirty="0">
                <a:solidFill>
                  <a:srgbClr val="8B949E"/>
                </a:solidFill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systems</a:t>
            </a:r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206240" cy="356616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960120"/>
            <a:ext cx="42062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9875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0D9A8"/>
                </a:solidFill>
                <a:latin typeface="Trebuchet MS" pitchFamily="34" charset="0"/>
              </a:rPr>
              <a:t>The Smart Park Solution</a:t>
            </a:r>
          </a:p>
        </p:txBody>
      </p:sp>
      <p:sp>
        <p:nvSpPr>
          <p:cNvPr id="15" name="Text 13"/>
          <p:cNvSpPr/>
          <p:nvPr/>
        </p:nvSpPr>
        <p:spPr>
          <a:xfrm>
            <a:off x="4754880" y="1371600"/>
            <a:ext cx="3931920" cy="64008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1200" i="1" dirty="0" smtClean="0">
                <a:solidFill>
                  <a:srgbClr val="E6EDF3"/>
                </a:solidFill>
                <a:latin typeface="Courier New" pitchFamily="49" charset="0"/>
                <a:cs typeface="Courier New" pitchFamily="49" charset="0"/>
              </a:rPr>
              <a:t>An </a:t>
            </a:r>
            <a:r>
              <a:rPr lang="en-US" sz="1200" i="1" dirty="0">
                <a:solidFill>
                  <a:srgbClr val="E6EDF3"/>
                </a:solidFill>
                <a:latin typeface="Courier New" pitchFamily="49" charset="0"/>
                <a:cs typeface="Courier New" pitchFamily="49" charset="0"/>
              </a:rPr>
              <a:t>IoT-driven ecosystem enabling</a:t>
            </a:r>
            <a:r>
              <a:rPr lang="en-US" sz="1000" i="1" dirty="0">
                <a:solidFill>
                  <a:srgbClr val="8B949E"/>
                </a:solidFill>
              </a:rPr>
              <a:t>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2103120"/>
            <a:ext cx="3931920" cy="384048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🌡  </a:t>
            </a:r>
            <a:r>
              <a:rPr lang="en-US" sz="1200" i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Continuous </a:t>
            </a:r>
            <a:r>
              <a:rPr lang="en-US" sz="1200" i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environmental monitoring</a:t>
            </a:r>
          </a:p>
        </p:txBody>
      </p:sp>
      <p:sp>
        <p:nvSpPr>
          <p:cNvPr id="17" name="Text 15"/>
          <p:cNvSpPr/>
          <p:nvPr/>
        </p:nvSpPr>
        <p:spPr>
          <a:xfrm>
            <a:off x="4754880" y="2560320"/>
            <a:ext cx="3931920" cy="384048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1200" dirty="0">
                <a:solidFill>
                  <a:srgbClr val="E6EDF3"/>
                </a:solidFill>
                <a:latin typeface="Courier New" pitchFamily="49" charset="0"/>
                <a:cs typeface="Courier New" pitchFamily="49" charset="0"/>
              </a:rPr>
              <a:t>🤖  </a:t>
            </a:r>
            <a:r>
              <a:rPr lang="en-US" sz="11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AI-based trail recommendations</a:t>
            </a:r>
          </a:p>
        </p:txBody>
      </p:sp>
      <p:sp>
        <p:nvSpPr>
          <p:cNvPr id="18" name="Text 16"/>
          <p:cNvSpPr/>
          <p:nvPr/>
        </p:nvSpPr>
        <p:spPr>
          <a:xfrm>
            <a:off x="4754880" y="3017520"/>
            <a:ext cx="3931920" cy="384048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1200" dirty="0">
                <a:solidFill>
                  <a:srgbClr val="E6EDF3"/>
                </a:solidFill>
                <a:latin typeface="Courier New" pitchFamily="49" charset="0"/>
                <a:cs typeface="Courier New" pitchFamily="49" charset="0"/>
              </a:rPr>
              <a:t>📍  </a:t>
            </a:r>
            <a:r>
              <a:rPr lang="en-US" sz="11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Safety alerts &amp; localization</a:t>
            </a:r>
          </a:p>
        </p:txBody>
      </p:sp>
      <p:sp>
        <p:nvSpPr>
          <p:cNvPr id="19" name="Text 17"/>
          <p:cNvSpPr/>
          <p:nvPr/>
        </p:nvSpPr>
        <p:spPr>
          <a:xfrm>
            <a:off x="4754880" y="3474720"/>
            <a:ext cx="3931920" cy="384048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12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💬  </a:t>
            </a:r>
            <a:r>
              <a:rPr lang="en-US" sz="11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Virtual assistant support</a:t>
            </a:r>
          </a:p>
        </p:txBody>
      </p:sp>
      <p:sp>
        <p:nvSpPr>
          <p:cNvPr id="20" name="Text 18"/>
          <p:cNvSpPr/>
          <p:nvPr/>
        </p:nvSpPr>
        <p:spPr>
          <a:xfrm>
            <a:off x="4754880" y="3931920"/>
            <a:ext cx="3931920" cy="384048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1200" dirty="0">
                <a:solidFill>
                  <a:srgbClr val="E6EDF3"/>
                </a:solidFill>
                <a:latin typeface="Courier New" pitchFamily="49" charset="0"/>
                <a:cs typeface="Courier New" pitchFamily="49" charset="0"/>
              </a:rPr>
              <a:t>📊  </a:t>
            </a:r>
            <a:r>
              <a:rPr lang="en-US" sz="11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Data-driven operational decisions</a:t>
            </a:r>
          </a:p>
        </p:txBody>
      </p:sp>
      <p:sp>
        <p:nvSpPr>
          <p:cNvPr id="21" name="Shape 1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pPr algn="ctr"/>
            <a:r>
              <a:rPr lang="en-US" sz="800" dirty="0">
                <a:solidFill>
                  <a:srgbClr val="8B949E"/>
                </a:solidFill>
              </a:rPr>
              <a:t>Smart IoT Environmental Monitoring  |  Giganti della Sila Park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9A8"/>
          </a:solidFill>
          <a:ln w="12700">
            <a:solidFill>
              <a:srgbClr val="00D9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Arial Black" pitchFamily="34" charset="-122"/>
                <a:cs typeface="Arial Black" pitchFamily="34" charset="-120"/>
              </a:rPr>
              <a:t>System Architecture Overview</a:t>
            </a:r>
            <a:endParaRPr lang="en-US" sz="2000" dirty="0">
              <a:latin typeface="Trebuchet MS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1600" i="1" dirty="0">
                <a:solidFill>
                  <a:srgbClr val="00D9A8"/>
                </a:solidFill>
                <a:latin typeface="Trebuchet MS" pitchFamily="34" charset="0"/>
              </a:rPr>
              <a:t>Three-Tier Architecture  |  Edge → Fog → Cloud</a:t>
            </a:r>
            <a:endParaRPr lang="en-US" sz="1600" dirty="0">
              <a:latin typeface="Trebuchet MS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834640" cy="3840480"/>
          </a:xfrm>
          <a:prstGeom prst="rect">
            <a:avLst/>
          </a:prstGeom>
          <a:solidFill>
            <a:srgbClr val="1C2333"/>
          </a:solidFill>
          <a:ln w="19050">
            <a:solidFill>
              <a:srgbClr val="00D9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60120"/>
            <a:ext cx="2834640" cy="411480"/>
          </a:xfrm>
          <a:prstGeom prst="rect">
            <a:avLst/>
          </a:prstGeom>
          <a:solidFill>
            <a:srgbClr val="00D9A8"/>
          </a:solidFill>
          <a:ln w="12700">
            <a:solidFill>
              <a:srgbClr val="00D9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875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</a:rPr>
              <a:t>EDGE TIER</a:t>
            </a:r>
            <a:endParaRPr lang="en-US" sz="1400" dirty="0">
              <a:latin typeface="Trebuchet MS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38328" y="1508760"/>
            <a:ext cx="2615184" cy="59436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" y="1508760"/>
            <a:ext cx="45720" cy="594360"/>
          </a:xfrm>
          <a:prstGeom prst="rect">
            <a:avLst/>
          </a:prstGeom>
          <a:solidFill>
            <a:srgbClr val="00D9A8"/>
          </a:solidFill>
          <a:ln w="12700">
            <a:solidFill>
              <a:srgbClr val="00D9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508760"/>
            <a:ext cx="2468880" cy="59436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1200" dirty="0">
                <a:solidFill>
                  <a:srgbClr val="E6EDF3"/>
                </a:solidFill>
                <a:latin typeface="Courier New" pitchFamily="49" charset="0"/>
                <a:cs typeface="Courier New" pitchFamily="49" charset="0"/>
              </a:rPr>
              <a:t>S6000U Sensor (RS485/Modbus)</a:t>
            </a:r>
            <a:endParaRPr lang="en-US" sz="1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38328" y="2258568"/>
            <a:ext cx="2615184" cy="59436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" y="2258568"/>
            <a:ext cx="45720" cy="594360"/>
          </a:xfrm>
          <a:prstGeom prst="rect">
            <a:avLst/>
          </a:prstGeom>
          <a:solidFill>
            <a:srgbClr val="00D9A8"/>
          </a:solidFill>
          <a:ln w="12700">
            <a:solidFill>
              <a:srgbClr val="00D9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2258568"/>
            <a:ext cx="2468880" cy="59436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1200" dirty="0">
                <a:solidFill>
                  <a:srgbClr val="E6EDF3"/>
                </a:solidFill>
                <a:latin typeface="Courier New" pitchFamily="49" charset="0"/>
                <a:cs typeface="Courier New" pitchFamily="49" charset="0"/>
              </a:rPr>
              <a:t>EG5120 Industrial Gateway</a:t>
            </a:r>
            <a:endParaRPr lang="en-US" sz="1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38328" y="3008376"/>
            <a:ext cx="2615184" cy="59436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" y="3008376"/>
            <a:ext cx="45720" cy="594360"/>
          </a:xfrm>
          <a:prstGeom prst="rect">
            <a:avLst/>
          </a:prstGeom>
          <a:solidFill>
            <a:srgbClr val="00D9A8"/>
          </a:solidFill>
          <a:ln w="12700">
            <a:solidFill>
              <a:srgbClr val="00D9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3008376"/>
            <a:ext cx="2468880" cy="59436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1200" dirty="0">
                <a:solidFill>
                  <a:srgbClr val="E6EDF3"/>
                </a:solidFill>
                <a:latin typeface="Courier New" pitchFamily="49" charset="0"/>
                <a:cs typeface="Courier New" pitchFamily="49" charset="0"/>
              </a:rPr>
              <a:t>Local ML </a:t>
            </a:r>
            <a:r>
              <a:rPr lang="en-US" sz="1200" dirty="0">
                <a:solidFill>
                  <a:srgbClr val="E6EDF3"/>
                </a:solidFill>
                <a:latin typeface="Courier New" pitchFamily="49" charset="0"/>
                <a:cs typeface="Courier New" pitchFamily="49" charset="0"/>
              </a:rPr>
              <a:t>Inference</a:t>
            </a:r>
            <a:endParaRPr lang="en-US" sz="1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38328" y="3758184"/>
            <a:ext cx="2615184" cy="59436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8328" y="3758184"/>
            <a:ext cx="45720" cy="594360"/>
          </a:xfrm>
          <a:prstGeom prst="rect">
            <a:avLst/>
          </a:prstGeom>
          <a:solidFill>
            <a:srgbClr val="00D9A8"/>
          </a:solidFill>
          <a:ln w="12700">
            <a:solidFill>
              <a:srgbClr val="00D9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3758184"/>
            <a:ext cx="2468880" cy="59436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1200" dirty="0">
                <a:solidFill>
                  <a:srgbClr val="E6EDF3"/>
                </a:solidFill>
                <a:latin typeface="Courier New" pitchFamily="49" charset="0"/>
                <a:cs typeface="Courier New" pitchFamily="49" charset="0"/>
              </a:rPr>
              <a:t>GPS GNSS Module</a:t>
            </a:r>
            <a:endParaRPr lang="en-US" sz="1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063240" y="2606040"/>
            <a:ext cx="457200" cy="4572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960120"/>
            <a:ext cx="2834640" cy="3840480"/>
          </a:xfrm>
          <a:prstGeom prst="rect">
            <a:avLst/>
          </a:prstGeom>
          <a:solidFill>
            <a:srgbClr val="1C2333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0" y="960120"/>
            <a:ext cx="2834640" cy="411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9875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</a:rPr>
              <a:t>FOG TIER</a:t>
            </a:r>
            <a:endParaRPr lang="en-US" sz="1400" dirty="0">
              <a:latin typeface="Trebuchet MS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401568" y="1508760"/>
            <a:ext cx="2615184" cy="59436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01568" y="1508760"/>
            <a:ext cx="45720" cy="594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93008" y="1508760"/>
            <a:ext cx="2468880" cy="59436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1200" dirty="0">
                <a:solidFill>
                  <a:srgbClr val="E6EDF3"/>
                </a:solidFill>
                <a:latin typeface="Courier New" pitchFamily="49" charset="0"/>
                <a:cs typeface="Courier New" pitchFamily="49" charset="0"/>
              </a:rPr>
              <a:t>Node-RED</a:t>
            </a:r>
            <a:r>
              <a:rPr lang="en-US" sz="1000" dirty="0">
                <a:solidFill>
                  <a:srgbClr val="E6EDF3"/>
                </a:solidFill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urier New" pitchFamily="49" charset="0"/>
                <a:cs typeface="Courier New" pitchFamily="49" charset="0"/>
              </a:rPr>
              <a:t>Orchestration Engine</a:t>
            </a:r>
          </a:p>
        </p:txBody>
      </p:sp>
      <p:sp>
        <p:nvSpPr>
          <p:cNvPr id="27" name="Shape 25"/>
          <p:cNvSpPr/>
          <p:nvPr/>
        </p:nvSpPr>
        <p:spPr>
          <a:xfrm>
            <a:off x="3401568" y="2258568"/>
            <a:ext cx="2615184" cy="59436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01568" y="2258568"/>
            <a:ext cx="45720" cy="594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93008" y="2258568"/>
            <a:ext cx="2468880" cy="59436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1200" dirty="0">
                <a:solidFill>
                  <a:srgbClr val="E6EDF3"/>
                </a:solidFill>
                <a:latin typeface="Courier New" pitchFamily="49" charset="0"/>
                <a:cs typeface="Courier New" pitchFamily="49" charset="0"/>
              </a:rPr>
              <a:t>InfluxDB</a:t>
            </a:r>
            <a:r>
              <a:rPr lang="en-US" sz="1000" dirty="0">
                <a:solidFill>
                  <a:srgbClr val="E6EDF3"/>
                </a:solidFill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urier New" pitchFamily="49" charset="0"/>
                <a:cs typeface="Courier New" pitchFamily="49" charset="0"/>
              </a:rPr>
              <a:t>Time-Series Database</a:t>
            </a:r>
          </a:p>
        </p:txBody>
      </p:sp>
      <p:sp>
        <p:nvSpPr>
          <p:cNvPr id="30" name="Shape 28"/>
          <p:cNvSpPr/>
          <p:nvPr/>
        </p:nvSpPr>
        <p:spPr>
          <a:xfrm>
            <a:off x="3401568" y="3008376"/>
            <a:ext cx="2615184" cy="59436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01568" y="3008376"/>
            <a:ext cx="45720" cy="594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93008" y="3008376"/>
            <a:ext cx="2468880" cy="59436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1200" dirty="0">
                <a:solidFill>
                  <a:srgbClr val="E6EDF3"/>
                </a:solidFill>
                <a:latin typeface="Courier New" pitchFamily="49" charset="0"/>
                <a:cs typeface="Courier New" pitchFamily="49" charset="0"/>
              </a:rPr>
              <a:t>Grafana</a:t>
            </a:r>
            <a:r>
              <a:rPr lang="en-US" sz="1000" dirty="0">
                <a:solidFill>
                  <a:srgbClr val="E6EDF3"/>
                </a:solidFill>
              </a:rPr>
              <a:t> </a:t>
            </a:r>
            <a:r>
              <a:rPr lang="en-US" sz="1200" dirty="0">
                <a:solidFill>
                  <a:srgbClr val="E6EDF3"/>
                </a:solidFill>
                <a:latin typeface="Courier New" pitchFamily="49" charset="0"/>
                <a:cs typeface="Courier New" pitchFamily="49" charset="0"/>
              </a:rPr>
              <a:t>Visualization Layer</a:t>
            </a:r>
          </a:p>
        </p:txBody>
      </p:sp>
      <p:sp>
        <p:nvSpPr>
          <p:cNvPr id="33" name="Shape 31"/>
          <p:cNvSpPr/>
          <p:nvPr/>
        </p:nvSpPr>
        <p:spPr>
          <a:xfrm>
            <a:off x="3401568" y="3758184"/>
            <a:ext cx="2615184" cy="59436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01568" y="3758184"/>
            <a:ext cx="45720" cy="594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93008" y="3758184"/>
            <a:ext cx="2468880" cy="59436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1200" dirty="0">
                <a:solidFill>
                  <a:srgbClr val="E6EDF3"/>
                </a:solidFill>
                <a:latin typeface="Courier New" pitchFamily="49" charset="0"/>
                <a:cs typeface="Courier New" pitchFamily="49" charset="0"/>
              </a:rPr>
              <a:t>FastAPI Backend Services</a:t>
            </a:r>
          </a:p>
        </p:txBody>
      </p:sp>
      <p:sp>
        <p:nvSpPr>
          <p:cNvPr id="36" name="Shape 34"/>
          <p:cNvSpPr/>
          <p:nvPr/>
        </p:nvSpPr>
        <p:spPr>
          <a:xfrm>
            <a:off x="6126480" y="2606040"/>
            <a:ext cx="457200" cy="4572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55080" y="960120"/>
            <a:ext cx="2834640" cy="3840480"/>
          </a:xfrm>
          <a:prstGeom prst="rect">
            <a:avLst/>
          </a:prstGeom>
          <a:solidFill>
            <a:srgbClr val="1C2333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55080" y="960120"/>
            <a:ext cx="2834640" cy="411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55080" y="9875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</a:rPr>
              <a:t>CLOUD TIER</a:t>
            </a:r>
            <a:endParaRPr lang="en-US" sz="1400" dirty="0">
              <a:latin typeface="Trebuchet MS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464808" y="1508760"/>
            <a:ext cx="2615184" cy="59436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64808" y="1508760"/>
            <a:ext cx="45720" cy="59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56248" y="1508760"/>
            <a:ext cx="2468880" cy="59436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1200" dirty="0">
                <a:solidFill>
                  <a:srgbClr val="E6EDF3"/>
                </a:solidFill>
                <a:latin typeface="Courier New" pitchFamily="49" charset="0"/>
                <a:cs typeface="Courier New" pitchFamily="49" charset="0"/>
              </a:rPr>
              <a:t>InfluxDB Cloud (AWS</a:t>
            </a:r>
            <a:r>
              <a:rPr lang="en-US" sz="1000" dirty="0">
                <a:solidFill>
                  <a:srgbClr val="E6EDF3"/>
                </a:solidFill>
              </a:rPr>
              <a:t>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64808" y="2258568"/>
            <a:ext cx="2615184" cy="59436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64808" y="2258568"/>
            <a:ext cx="45720" cy="59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56248" y="2258568"/>
            <a:ext cx="2468880" cy="59436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1200" dirty="0">
                <a:solidFill>
                  <a:srgbClr val="E6EDF3"/>
                </a:solidFill>
                <a:latin typeface="Courier New" pitchFamily="49" charset="0"/>
                <a:cs typeface="Courier New" pitchFamily="49" charset="0"/>
              </a:rPr>
              <a:t>RCMS Remote Device Management</a:t>
            </a:r>
          </a:p>
        </p:txBody>
      </p:sp>
      <p:sp>
        <p:nvSpPr>
          <p:cNvPr id="46" name="Shape 44"/>
          <p:cNvSpPr/>
          <p:nvPr/>
        </p:nvSpPr>
        <p:spPr>
          <a:xfrm>
            <a:off x="6464808" y="3008376"/>
            <a:ext cx="2615184" cy="59436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64808" y="3008376"/>
            <a:ext cx="45720" cy="59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56248" y="3008376"/>
            <a:ext cx="2468880" cy="59436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1200" dirty="0">
                <a:solidFill>
                  <a:srgbClr val="E6EDF3"/>
                </a:solidFill>
                <a:latin typeface="Courier New" pitchFamily="49" charset="0"/>
                <a:cs typeface="Courier New" pitchFamily="49" charset="0"/>
              </a:rPr>
              <a:t>Admin Web Platform</a:t>
            </a:r>
          </a:p>
        </p:txBody>
      </p:sp>
      <p:sp>
        <p:nvSpPr>
          <p:cNvPr id="49" name="Shape 47"/>
          <p:cNvSpPr/>
          <p:nvPr/>
        </p:nvSpPr>
        <p:spPr>
          <a:xfrm>
            <a:off x="6464808" y="3758184"/>
            <a:ext cx="2615184" cy="59436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64808" y="3758184"/>
            <a:ext cx="45720" cy="59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56248" y="3758184"/>
            <a:ext cx="2468880" cy="59436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1200" dirty="0">
                <a:solidFill>
                  <a:srgbClr val="E6EDF3"/>
                </a:solidFill>
                <a:latin typeface="Courier New" pitchFamily="49" charset="0"/>
                <a:cs typeface="Courier New" pitchFamily="49" charset="0"/>
              </a:rPr>
              <a:t>RAG Chatbot (Groq API)</a:t>
            </a:r>
          </a:p>
        </p:txBody>
      </p:sp>
      <p:sp>
        <p:nvSpPr>
          <p:cNvPr id="52" name="Shape 5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pPr algn="ctr"/>
            <a:r>
              <a:rPr lang="en-US" sz="800" dirty="0">
                <a:solidFill>
                  <a:srgbClr val="8B949E"/>
                </a:solidFill>
              </a:rPr>
              <a:t>Smart IoT Environmental Monitoring  |  Giganti della Sila Park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9A8"/>
          </a:solidFill>
          <a:ln w="12700">
            <a:solidFill>
              <a:srgbClr val="00D9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Arial Black" pitchFamily="34" charset="-122"/>
                <a:cs typeface="Arial Black" pitchFamily="34" charset="-120"/>
              </a:rPr>
              <a:t>Hardware: Robustel EG5120 &amp; S6000U</a:t>
            </a:r>
            <a:endParaRPr lang="en-US" sz="2000" dirty="0">
              <a:latin typeface="Trebuchet MS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1600" i="1" dirty="0">
                <a:solidFill>
                  <a:srgbClr val="00D9A8"/>
                </a:solidFill>
                <a:latin typeface="Trebuchet MS" pitchFamily="34" charset="0"/>
              </a:rPr>
              <a:t>Industrial IoT Gateway &amp; Multi-Purpose Sensor</a:t>
            </a:r>
            <a:endParaRPr lang="en-US" sz="1600" dirty="0">
              <a:latin typeface="Trebuchet MS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28600" y="947150"/>
            <a:ext cx="4206240" cy="3931920"/>
          </a:xfrm>
          <a:prstGeom prst="rect">
            <a:avLst/>
          </a:prstGeom>
          <a:solidFill>
            <a:srgbClr val="1C2333"/>
          </a:solidFill>
          <a:ln w="19050">
            <a:solidFill>
              <a:srgbClr val="00D9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60120"/>
            <a:ext cx="4206240" cy="384048"/>
          </a:xfrm>
          <a:prstGeom prst="rect">
            <a:avLst/>
          </a:prstGeom>
          <a:solidFill>
            <a:srgbClr val="00D9A8"/>
          </a:solidFill>
          <a:ln w="12700">
            <a:solidFill>
              <a:srgbClr val="00D9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784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</a:rPr>
              <a:t>Robustel EG5120 Gateway</a:t>
            </a:r>
            <a:endParaRPr lang="en-US" sz="1400" dirty="0">
              <a:latin typeface="Trebuchet MS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0D9A8"/>
                </a:solidFill>
                <a:latin typeface="Trebuchet MS" pitchFamily="34" charset="0"/>
              </a:rPr>
              <a:t>Edge Computing</a:t>
            </a:r>
            <a:endParaRPr lang="en-US" sz="1200" dirty="0">
              <a:latin typeface="Trebuchet MS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65760" y="17373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Node-RED, InfluxDB</a:t>
            </a:r>
            <a:r>
              <a:rPr lang="en-US" sz="11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, Grafana; Python 3; </a:t>
            </a:r>
            <a:r>
              <a:rPr lang="en-US" sz="11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TensorFlow Lite</a:t>
            </a:r>
          </a:p>
        </p:txBody>
      </p:sp>
      <p:sp>
        <p:nvSpPr>
          <p:cNvPr id="10" name="Text 8"/>
          <p:cNvSpPr/>
          <p:nvPr/>
        </p:nvSpPr>
        <p:spPr>
          <a:xfrm>
            <a:off x="365760" y="22677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0D9A8"/>
                </a:solidFill>
                <a:latin typeface="Trebuchet MS" pitchFamily="34" charset="0"/>
              </a:rPr>
              <a:t>Industrial Reliability</a:t>
            </a:r>
          </a:p>
        </p:txBody>
      </p:sp>
      <p:sp>
        <p:nvSpPr>
          <p:cNvPr id="11" name="Text 9"/>
          <p:cNvSpPr/>
          <p:nvPr/>
        </p:nvSpPr>
        <p:spPr>
          <a:xfrm>
            <a:off x="365760" y="25420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 smtClean="0">
                <a:solidFill>
                  <a:srgbClr val="8B949E"/>
                </a:solidFill>
              </a:rPr>
              <a:t>-</a:t>
            </a:r>
            <a:r>
              <a:rPr lang="en-US" sz="1100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Dual </a:t>
            </a:r>
            <a:r>
              <a:rPr lang="en-US" sz="11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SIM failover; IP30 housing</a:t>
            </a:r>
          </a:p>
        </p:txBody>
      </p:sp>
      <p:sp>
        <p:nvSpPr>
          <p:cNvPr id="12" name="Text 10"/>
          <p:cNvSpPr/>
          <p:nvPr/>
        </p:nvSpPr>
        <p:spPr>
          <a:xfrm>
            <a:off x="365760" y="30723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0D9A8"/>
                </a:solidFill>
                <a:latin typeface="Trebuchet MS" pitchFamily="34" charset="0"/>
              </a:rPr>
              <a:t>Security</a:t>
            </a:r>
          </a:p>
        </p:txBody>
      </p:sp>
      <p:sp>
        <p:nvSpPr>
          <p:cNvPr id="13" name="Text 11"/>
          <p:cNvSpPr/>
          <p:nvPr/>
        </p:nvSpPr>
        <p:spPr>
          <a:xfrm>
            <a:off x="365760" y="334670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IPsec, OpenVPN</a:t>
            </a:r>
            <a:r>
              <a:rPr lang="en-US" sz="11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100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Firewall</a:t>
            </a:r>
            <a:r>
              <a:rPr lang="en-US" sz="11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100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SSH/HTTPS</a:t>
            </a:r>
            <a:endParaRPr lang="en-US" sz="1100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65760" y="38770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0D9A8"/>
                </a:solidFill>
                <a:latin typeface="Trebuchet MS" pitchFamily="34" charset="0"/>
              </a:rPr>
              <a:t>Protocol Gateway</a:t>
            </a:r>
          </a:p>
        </p:txBody>
      </p:sp>
      <p:sp>
        <p:nvSpPr>
          <p:cNvPr id="15" name="Text 13"/>
          <p:cNvSpPr/>
          <p:nvPr/>
        </p:nvSpPr>
        <p:spPr>
          <a:xfrm>
            <a:off x="365760" y="415137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Modbus RTU/ASCII; MQTT; HTTP/HTTPS; </a:t>
            </a:r>
            <a:r>
              <a:rPr lang="en-US" sz="1100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GPS </a:t>
            </a:r>
            <a:r>
              <a:rPr lang="en-US" sz="11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NMEA</a:t>
            </a:r>
          </a:p>
        </p:txBody>
      </p:sp>
      <p:sp>
        <p:nvSpPr>
          <p:cNvPr id="16" name="Shape 14"/>
          <p:cNvSpPr/>
          <p:nvPr/>
        </p:nvSpPr>
        <p:spPr>
          <a:xfrm>
            <a:off x="4709160" y="960120"/>
            <a:ext cx="4206240" cy="3931920"/>
          </a:xfrm>
          <a:prstGeom prst="rect">
            <a:avLst/>
          </a:prstGeom>
          <a:solidFill>
            <a:srgbClr val="1C2333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960120"/>
            <a:ext cx="4206240" cy="3840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9784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</a:rPr>
              <a:t>S6000U Multi-Purpose Sensor</a:t>
            </a:r>
          </a:p>
        </p:txBody>
      </p:sp>
      <p:sp>
        <p:nvSpPr>
          <p:cNvPr id="19" name="Text 17"/>
          <p:cNvSpPr/>
          <p:nvPr/>
        </p:nvSpPr>
        <p:spPr>
          <a:xfrm>
            <a:off x="475488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1200" i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IP65-rated • 6 sensors in 1 • RS485 Modbus RTU</a:t>
            </a:r>
            <a:endParaRPr lang="en-US" sz="1200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754880" y="1737360"/>
            <a:ext cx="4023360" cy="2743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0EA5E9"/>
                </a:solidFill>
                <a:latin typeface="Courier New" pitchFamily="49" charset="0"/>
                <a:cs typeface="Courier New" pitchFamily="49" charset="0"/>
              </a:rPr>
              <a:t>Address</a:t>
            </a:r>
            <a:endParaRPr lang="en-US" sz="1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669280" y="1737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0EA5E9"/>
                </a:solidFill>
                <a:latin typeface="Courier New" pitchFamily="49" charset="0"/>
                <a:cs typeface="Courier New" pitchFamily="49" charset="0"/>
              </a:rPr>
              <a:t>Parameter</a:t>
            </a:r>
            <a:endParaRPr lang="en-US" sz="1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315200" y="1737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0EA5E9"/>
                </a:solidFill>
                <a:latin typeface="Courier New" pitchFamily="49" charset="0"/>
                <a:cs typeface="Courier New" pitchFamily="49" charset="0"/>
              </a:rPr>
              <a:t>Scaling</a:t>
            </a:r>
            <a:endParaRPr lang="en-US" sz="1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754880" y="2029968"/>
            <a:ext cx="4023360" cy="320040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02996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00D9A8"/>
                </a:solidFill>
                <a:latin typeface="Courier New" pitchFamily="49" charset="0"/>
                <a:ea typeface="Consolas" pitchFamily="34" charset="-122"/>
                <a:cs typeface="Courier New" pitchFamily="49" charset="0"/>
              </a:rPr>
              <a:t>0x100</a:t>
            </a:r>
            <a:endParaRPr lang="en-US" sz="1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669280" y="20299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E6EDF3"/>
                </a:solidFill>
                <a:latin typeface="Courier New" pitchFamily="49" charset="0"/>
                <a:cs typeface="Courier New" pitchFamily="49" charset="0"/>
              </a:rPr>
              <a:t>Temperature</a:t>
            </a:r>
            <a:endParaRPr lang="en-US" sz="1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315200" y="20299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E6EDF3"/>
                </a:solidFill>
                <a:latin typeface="Courier New" pitchFamily="49" charset="0"/>
                <a:cs typeface="Courier New" pitchFamily="49" charset="0"/>
              </a:rPr>
              <a:t>Value / 100 (°C)</a:t>
            </a:r>
          </a:p>
        </p:txBody>
      </p:sp>
      <p:sp>
        <p:nvSpPr>
          <p:cNvPr id="28" name="Shape 26"/>
          <p:cNvSpPr/>
          <p:nvPr/>
        </p:nvSpPr>
        <p:spPr>
          <a:xfrm>
            <a:off x="4754880" y="2359152"/>
            <a:ext cx="4023360" cy="320040"/>
          </a:xfrm>
          <a:prstGeom prst="rect">
            <a:avLst/>
          </a:prstGeom>
          <a:solidFill>
            <a:srgbClr val="1C2333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3591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00D9A8"/>
                </a:solidFill>
                <a:latin typeface="Courier New" pitchFamily="49" charset="0"/>
                <a:ea typeface="Consolas" pitchFamily="34" charset="-122"/>
                <a:cs typeface="Courier New" pitchFamily="49" charset="0"/>
              </a:rPr>
              <a:t>0x101</a:t>
            </a:r>
          </a:p>
        </p:txBody>
      </p:sp>
      <p:sp>
        <p:nvSpPr>
          <p:cNvPr id="30" name="Text 28"/>
          <p:cNvSpPr/>
          <p:nvPr/>
        </p:nvSpPr>
        <p:spPr>
          <a:xfrm>
            <a:off x="5669280" y="23591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E6EDF3"/>
                </a:solidFill>
                <a:latin typeface="Courier New" pitchFamily="49" charset="0"/>
                <a:cs typeface="Courier New" pitchFamily="49" charset="0"/>
              </a:rPr>
              <a:t>Humidity</a:t>
            </a:r>
          </a:p>
        </p:txBody>
      </p:sp>
      <p:sp>
        <p:nvSpPr>
          <p:cNvPr id="31" name="Text 29"/>
          <p:cNvSpPr/>
          <p:nvPr/>
        </p:nvSpPr>
        <p:spPr>
          <a:xfrm>
            <a:off x="7315200" y="23591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E6EDF3"/>
                </a:solidFill>
                <a:latin typeface="Courier New" pitchFamily="49" charset="0"/>
                <a:cs typeface="Courier New" pitchFamily="49" charset="0"/>
              </a:rPr>
              <a:t>Value (0–100%)</a:t>
            </a:r>
          </a:p>
        </p:txBody>
      </p:sp>
      <p:sp>
        <p:nvSpPr>
          <p:cNvPr id="32" name="Shape 30"/>
          <p:cNvSpPr/>
          <p:nvPr/>
        </p:nvSpPr>
        <p:spPr>
          <a:xfrm>
            <a:off x="4754880" y="2688336"/>
            <a:ext cx="4023360" cy="320040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68833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00D9A8"/>
                </a:solidFill>
                <a:latin typeface="Courier New" pitchFamily="49" charset="0"/>
                <a:ea typeface="Consolas" pitchFamily="34" charset="-122"/>
                <a:cs typeface="Courier New" pitchFamily="49" charset="0"/>
              </a:rPr>
              <a:t>0x102</a:t>
            </a:r>
          </a:p>
        </p:txBody>
      </p:sp>
      <p:sp>
        <p:nvSpPr>
          <p:cNvPr id="34" name="Text 32"/>
          <p:cNvSpPr/>
          <p:nvPr/>
        </p:nvSpPr>
        <p:spPr>
          <a:xfrm>
            <a:off x="5669280" y="268833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E6EDF3"/>
                </a:solidFill>
                <a:latin typeface="Courier New" pitchFamily="49" charset="0"/>
                <a:cs typeface="Courier New" pitchFamily="49" charset="0"/>
              </a:rPr>
              <a:t>Light Intensity</a:t>
            </a:r>
          </a:p>
        </p:txBody>
      </p:sp>
      <p:sp>
        <p:nvSpPr>
          <p:cNvPr id="35" name="Text 33"/>
          <p:cNvSpPr/>
          <p:nvPr/>
        </p:nvSpPr>
        <p:spPr>
          <a:xfrm>
            <a:off x="7315200" y="268833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E6EDF3"/>
                </a:solidFill>
                <a:latin typeface="Courier New" pitchFamily="49" charset="0"/>
                <a:cs typeface="Courier New" pitchFamily="49" charset="0"/>
              </a:rPr>
              <a:t>Value (lux</a:t>
            </a:r>
            <a:r>
              <a:rPr lang="en-US" sz="800" dirty="0">
                <a:solidFill>
                  <a:srgbClr val="8B949E"/>
                </a:solidFill>
              </a:rPr>
              <a:t>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754880" y="3017520"/>
            <a:ext cx="4023360" cy="320040"/>
          </a:xfrm>
          <a:prstGeom prst="rect">
            <a:avLst/>
          </a:prstGeom>
          <a:solidFill>
            <a:srgbClr val="1C2333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3017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00D9A8"/>
                </a:solidFill>
                <a:latin typeface="Courier New" pitchFamily="49" charset="0"/>
                <a:ea typeface="Consolas" pitchFamily="34" charset="-122"/>
                <a:cs typeface="Courier New" pitchFamily="49" charset="0"/>
              </a:rPr>
              <a:t>0x103</a:t>
            </a:r>
          </a:p>
        </p:txBody>
      </p:sp>
      <p:sp>
        <p:nvSpPr>
          <p:cNvPr id="38" name="Text 36"/>
          <p:cNvSpPr/>
          <p:nvPr/>
        </p:nvSpPr>
        <p:spPr>
          <a:xfrm>
            <a:off x="5669280" y="3017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E6EDF3"/>
                </a:solidFill>
                <a:latin typeface="Courier New" pitchFamily="49" charset="0"/>
                <a:cs typeface="Courier New" pitchFamily="49" charset="0"/>
              </a:rPr>
              <a:t>Noise Level</a:t>
            </a:r>
          </a:p>
        </p:txBody>
      </p:sp>
      <p:sp>
        <p:nvSpPr>
          <p:cNvPr id="39" name="Text 37"/>
          <p:cNvSpPr/>
          <p:nvPr/>
        </p:nvSpPr>
        <p:spPr>
          <a:xfrm>
            <a:off x="7315200" y="3017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E6EDF3"/>
                </a:solidFill>
                <a:latin typeface="Courier New" pitchFamily="49" charset="0"/>
                <a:cs typeface="Courier New" pitchFamily="49" charset="0"/>
              </a:rPr>
              <a:t>Value (dBA)</a:t>
            </a:r>
          </a:p>
        </p:txBody>
      </p:sp>
      <p:sp>
        <p:nvSpPr>
          <p:cNvPr id="40" name="Shape 38"/>
          <p:cNvSpPr/>
          <p:nvPr/>
        </p:nvSpPr>
        <p:spPr>
          <a:xfrm>
            <a:off x="4754880" y="3346704"/>
            <a:ext cx="4023360" cy="320040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334670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00D9A8"/>
                </a:solidFill>
                <a:latin typeface="Courier New" pitchFamily="49" charset="0"/>
                <a:ea typeface="Consolas" pitchFamily="34" charset="-122"/>
                <a:cs typeface="Courier New" pitchFamily="49" charset="0"/>
              </a:rPr>
              <a:t>0x104–105</a:t>
            </a:r>
          </a:p>
        </p:txBody>
      </p:sp>
      <p:sp>
        <p:nvSpPr>
          <p:cNvPr id="42" name="Text 40"/>
          <p:cNvSpPr/>
          <p:nvPr/>
        </p:nvSpPr>
        <p:spPr>
          <a:xfrm>
            <a:off x="5669280" y="334670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E6EDF3"/>
                </a:solidFill>
                <a:latin typeface="Courier New" pitchFamily="49" charset="0"/>
                <a:cs typeface="Courier New" pitchFamily="49" charset="0"/>
              </a:rPr>
              <a:t>Pressure</a:t>
            </a:r>
          </a:p>
        </p:txBody>
      </p:sp>
      <p:sp>
        <p:nvSpPr>
          <p:cNvPr id="43" name="Text 41"/>
          <p:cNvSpPr/>
          <p:nvPr/>
        </p:nvSpPr>
        <p:spPr>
          <a:xfrm>
            <a:off x="7315200" y="334670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E6EDF3"/>
                </a:solidFill>
                <a:latin typeface="Courier New" pitchFamily="49" charset="0"/>
                <a:cs typeface="Courier New" pitchFamily="49" charset="0"/>
              </a:rPr>
              <a:t>IEEE 754 Float (hPa)</a:t>
            </a:r>
          </a:p>
        </p:txBody>
      </p:sp>
      <p:sp>
        <p:nvSpPr>
          <p:cNvPr id="44" name="Shape 42"/>
          <p:cNvSpPr/>
          <p:nvPr/>
        </p:nvSpPr>
        <p:spPr>
          <a:xfrm>
            <a:off x="4754880" y="3675888"/>
            <a:ext cx="4023360" cy="320040"/>
          </a:xfrm>
          <a:prstGeom prst="rect">
            <a:avLst/>
          </a:prstGeom>
          <a:solidFill>
            <a:srgbClr val="1C2333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36758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00D9A8"/>
                </a:solidFill>
                <a:latin typeface="Courier New" pitchFamily="49" charset="0"/>
                <a:ea typeface="Consolas" pitchFamily="34" charset="-122"/>
                <a:cs typeface="Courier New" pitchFamily="49" charset="0"/>
              </a:rPr>
              <a:t>0x106</a:t>
            </a:r>
          </a:p>
        </p:txBody>
      </p:sp>
      <p:sp>
        <p:nvSpPr>
          <p:cNvPr id="46" name="Text 44"/>
          <p:cNvSpPr/>
          <p:nvPr/>
        </p:nvSpPr>
        <p:spPr>
          <a:xfrm>
            <a:off x="5669280" y="36758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E6EDF3"/>
                </a:solidFill>
                <a:latin typeface="Courier New" pitchFamily="49" charset="0"/>
                <a:cs typeface="Courier New" pitchFamily="49" charset="0"/>
              </a:rPr>
              <a:t>ToF Distance</a:t>
            </a:r>
          </a:p>
        </p:txBody>
      </p:sp>
      <p:sp>
        <p:nvSpPr>
          <p:cNvPr id="47" name="Text 45"/>
          <p:cNvSpPr/>
          <p:nvPr/>
        </p:nvSpPr>
        <p:spPr>
          <a:xfrm>
            <a:off x="7315200" y="36758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E6EDF3"/>
                </a:solidFill>
                <a:latin typeface="Courier New" pitchFamily="49" charset="0"/>
                <a:cs typeface="Courier New" pitchFamily="49" charset="0"/>
              </a:rPr>
              <a:t>Value (mm)</a:t>
            </a:r>
          </a:p>
        </p:txBody>
      </p:sp>
      <p:sp>
        <p:nvSpPr>
          <p:cNvPr id="48" name="Shape 4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pPr algn="ctr"/>
            <a:r>
              <a:rPr lang="en-US" sz="800" dirty="0">
                <a:solidFill>
                  <a:srgbClr val="8B949E"/>
                </a:solidFill>
              </a:rPr>
              <a:t>Smart IoT Environmental Monitoring  |  Giganti della Sila Park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9120" y="788240"/>
            <a:ext cx="4219575" cy="43053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endParaRPr spc="-135" dirty="0"/>
          </a:p>
        </p:txBody>
      </p:sp>
      <p:sp>
        <p:nvSpPr>
          <p:cNvPr id="3" name="object 3"/>
          <p:cNvSpPr/>
          <p:nvPr/>
        </p:nvSpPr>
        <p:spPr>
          <a:xfrm>
            <a:off x="435772" y="811484"/>
            <a:ext cx="35719" cy="548640"/>
          </a:xfrm>
          <a:custGeom>
            <a:avLst/>
            <a:gdLst/>
            <a:ahLst/>
            <a:cxnLst/>
            <a:rect l="l" t="t" r="r" b="b"/>
            <a:pathLst>
              <a:path w="47625" h="731519">
                <a:moveTo>
                  <a:pt x="47624" y="731489"/>
                </a:moveTo>
                <a:lnTo>
                  <a:pt x="0" y="731489"/>
                </a:lnTo>
                <a:lnTo>
                  <a:pt x="0" y="0"/>
                </a:lnTo>
                <a:lnTo>
                  <a:pt x="47624" y="0"/>
                </a:lnTo>
                <a:lnTo>
                  <a:pt x="47624" y="731489"/>
                </a:lnTo>
                <a:close/>
              </a:path>
            </a:pathLst>
          </a:custGeom>
          <a:solidFill>
            <a:srgbClr val="45A29E"/>
          </a:solidFill>
        </p:spPr>
        <p:txBody>
          <a:bodyPr wrap="square" lIns="0" tIns="0" rIns="0" bIns="0" rtlCol="0"/>
          <a:lstStyle/>
          <a:p>
            <a:pPr defTabSz="685766"/>
            <a:endParaRPr kern="0" smtClean="0">
              <a:solidFill>
                <a:sysClr val="windowText" lastClr="000000"/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51" y="421532"/>
            <a:ext cx="8975387" cy="44552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64414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9A8"/>
          </a:solidFill>
          <a:ln w="12700">
            <a:solidFill>
              <a:srgbClr val="00D9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Arial Black" pitchFamily="34" charset="-122"/>
                <a:cs typeface="Arial Black" pitchFamily="34" charset="-120"/>
              </a:rPr>
              <a:t>Node-RED Workflow Engine</a:t>
            </a:r>
            <a:endParaRPr lang="en-US" sz="2000" dirty="0">
              <a:latin typeface="Trebuchet MS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1400" i="1" dirty="0">
                <a:solidFill>
                  <a:srgbClr val="00D9A8"/>
                </a:solidFill>
                <a:latin typeface="Trebuchet MS" pitchFamily="34" charset="0"/>
              </a:rPr>
              <a:t>From sensor data to cloud — 6-step pipeline</a:t>
            </a:r>
            <a:endParaRPr lang="en-US" sz="1400" dirty="0">
              <a:latin typeface="Trebuchet MS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251960" cy="120700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60120"/>
            <a:ext cx="502920" cy="1207008"/>
          </a:xfrm>
          <a:prstGeom prst="rect">
            <a:avLst/>
          </a:prstGeom>
          <a:solidFill>
            <a:srgbClr val="00D9A8"/>
          </a:solidFill>
          <a:ln w="12700">
            <a:solidFill>
              <a:srgbClr val="00D9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60120"/>
            <a:ext cx="502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103327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</a:rPr>
              <a:t>Data Acquisition</a:t>
            </a:r>
            <a:endParaRPr lang="en-US" sz="1200" dirty="0">
              <a:latin typeface="Trebuchet MS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1344168"/>
            <a:ext cx="3566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Modbus RTU polls S6000U every 30s over RS485. GPS service enabled via Node-RED TCP/NMEA stream.</a:t>
            </a:r>
          </a:p>
        </p:txBody>
      </p:sp>
      <p:sp>
        <p:nvSpPr>
          <p:cNvPr id="10" name="Shape 8"/>
          <p:cNvSpPr/>
          <p:nvPr/>
        </p:nvSpPr>
        <p:spPr>
          <a:xfrm>
            <a:off x="228600" y="2304288"/>
            <a:ext cx="4251960" cy="120700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2304288"/>
            <a:ext cx="502920" cy="1207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2304288"/>
            <a:ext cx="502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22960" y="23774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</a:rPr>
              <a:t>Preprocessing</a:t>
            </a:r>
          </a:p>
        </p:txBody>
      </p:sp>
      <p:sp>
        <p:nvSpPr>
          <p:cNvPr id="14" name="Text 12"/>
          <p:cNvSpPr/>
          <p:nvPr/>
        </p:nvSpPr>
        <p:spPr>
          <a:xfrm>
            <a:off x="822960" y="2688336"/>
            <a:ext cx="3566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Decodes Modbus registers to engineering values. JSON-formats parameters. Parses GPS NMEA for lat/lon.</a:t>
            </a:r>
          </a:p>
        </p:txBody>
      </p:sp>
      <p:sp>
        <p:nvSpPr>
          <p:cNvPr id="15" name="Shape 13"/>
          <p:cNvSpPr/>
          <p:nvPr/>
        </p:nvSpPr>
        <p:spPr>
          <a:xfrm>
            <a:off x="228600" y="3648456"/>
            <a:ext cx="4251960" cy="120700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3648456"/>
            <a:ext cx="502920" cy="1207008"/>
          </a:xfrm>
          <a:prstGeom prst="rect">
            <a:avLst/>
          </a:prstGeom>
          <a:solidFill>
            <a:srgbClr val="00D9A8"/>
          </a:solidFill>
          <a:ln w="12700">
            <a:solidFill>
              <a:srgbClr val="00D9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3648456"/>
            <a:ext cx="502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2960" y="37216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</a:rPr>
              <a:t>Data Fusion</a:t>
            </a:r>
          </a:p>
        </p:txBody>
      </p:sp>
      <p:sp>
        <p:nvSpPr>
          <p:cNvPr id="19" name="Text 17"/>
          <p:cNvSpPr/>
          <p:nvPr/>
        </p:nvSpPr>
        <p:spPr>
          <a:xfrm>
            <a:off x="822960" y="4032504"/>
            <a:ext cx="3566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Merges sensor readings with GPS coordinates into structured JSON for spatially-aware monitoring.</a:t>
            </a:r>
          </a:p>
        </p:txBody>
      </p:sp>
      <p:sp>
        <p:nvSpPr>
          <p:cNvPr id="20" name="Shape 18"/>
          <p:cNvSpPr/>
          <p:nvPr/>
        </p:nvSpPr>
        <p:spPr>
          <a:xfrm>
            <a:off x="4709160" y="960120"/>
            <a:ext cx="4251960" cy="120700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960120"/>
            <a:ext cx="502920" cy="1207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960120"/>
            <a:ext cx="502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03520" y="103327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</a:rPr>
              <a:t>Local Storage</a:t>
            </a:r>
          </a:p>
        </p:txBody>
      </p:sp>
      <p:sp>
        <p:nvSpPr>
          <p:cNvPr id="24" name="Text 22"/>
          <p:cNvSpPr/>
          <p:nvPr/>
        </p:nvSpPr>
        <p:spPr>
          <a:xfrm>
            <a:off x="5303520" y="1344168"/>
            <a:ext cx="3566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Writes to local InfluxDB. </a:t>
            </a:r>
            <a:r>
              <a:rPr lang="en-US" sz="11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Enables time-series querying for Grafana. </a:t>
            </a:r>
            <a:r>
              <a:rPr lang="en-US" sz="11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Buffers data during outages.</a:t>
            </a:r>
          </a:p>
        </p:txBody>
      </p:sp>
      <p:sp>
        <p:nvSpPr>
          <p:cNvPr id="25" name="Shape 23"/>
          <p:cNvSpPr/>
          <p:nvPr/>
        </p:nvSpPr>
        <p:spPr>
          <a:xfrm>
            <a:off x="4709160" y="2304288"/>
            <a:ext cx="4251960" cy="120700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2304288"/>
            <a:ext cx="502920" cy="1207008"/>
          </a:xfrm>
          <a:prstGeom prst="rect">
            <a:avLst/>
          </a:prstGeom>
          <a:solidFill>
            <a:srgbClr val="00D9A8"/>
          </a:solidFill>
          <a:ln w="12700">
            <a:solidFill>
              <a:srgbClr val="00D9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2304288"/>
            <a:ext cx="502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303520" y="23774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</a:rPr>
              <a:t>Cloud Sync</a:t>
            </a:r>
          </a:p>
        </p:txBody>
      </p:sp>
      <p:sp>
        <p:nvSpPr>
          <p:cNvPr id="29" name="Text 27"/>
          <p:cNvSpPr/>
          <p:nvPr/>
        </p:nvSpPr>
        <p:spPr>
          <a:xfrm>
            <a:off x="5303520" y="2688336"/>
            <a:ext cx="3566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Forwards data to InfluxDB Cloud (AWS). Enables remote access &amp; integration with admin platform.</a:t>
            </a:r>
          </a:p>
        </p:txBody>
      </p:sp>
      <p:sp>
        <p:nvSpPr>
          <p:cNvPr id="30" name="Shape 28"/>
          <p:cNvSpPr/>
          <p:nvPr/>
        </p:nvSpPr>
        <p:spPr>
          <a:xfrm>
            <a:off x="4709160" y="3648456"/>
            <a:ext cx="4251960" cy="120700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3648456"/>
            <a:ext cx="502920" cy="1207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3648456"/>
            <a:ext cx="502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303520" y="37216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</a:rPr>
              <a:t>ML Integration</a:t>
            </a:r>
          </a:p>
        </p:txBody>
      </p:sp>
      <p:sp>
        <p:nvSpPr>
          <p:cNvPr id="34" name="Text 32"/>
          <p:cNvSpPr/>
          <p:nvPr/>
        </p:nvSpPr>
        <p:spPr>
          <a:xfrm>
            <a:off x="5303520" y="4032504"/>
            <a:ext cx="3566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exec node calls predictor.py — Random Forest inference on device. Result stored in InfluxDB &amp; Firestore.</a:t>
            </a:r>
          </a:p>
        </p:txBody>
      </p:sp>
      <p:sp>
        <p:nvSpPr>
          <p:cNvPr id="35" name="Shape 3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pPr algn="ctr"/>
            <a:r>
              <a:rPr lang="en-US" sz="800" dirty="0">
                <a:solidFill>
                  <a:srgbClr val="8B949E"/>
                </a:solidFill>
              </a:rPr>
              <a:t>Smart IoT Environmental Monitoring  |  Giganti della Sila Park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3" y="420688"/>
            <a:ext cx="8967787" cy="4475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00617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25" y="9525"/>
              <a:ext cx="6086475" cy="683895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49206" y="213732"/>
            <a:ext cx="6372135" cy="410145"/>
          </a:xfrm>
          <a:prstGeom prst="rect">
            <a:avLst/>
          </a:prstGeom>
        </p:spPr>
        <p:txBody>
          <a:bodyPr vert="horz" wrap="square" lIns="0" tIns="101378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lang="en-GB" sz="2000" spc="-278" dirty="0" smtClean="0">
                <a:solidFill>
                  <a:schemeClr val="bg1"/>
                </a:solidFill>
              </a:rPr>
              <a:t>G R A F A N A</a:t>
            </a:r>
            <a:endParaRPr sz="2000" spc="-274" dirty="0">
              <a:solidFill>
                <a:schemeClr val="bg1"/>
              </a:solidFill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6244" y="1127933"/>
            <a:ext cx="3790950" cy="4491358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lang="en-GB" sz="1100" kern="0" dirty="0" smtClean="0">
                <a:solidFill>
                  <a:srgbClr val="C5C6C7"/>
                </a:solidFill>
                <a:latin typeface="Courier New"/>
                <a:cs typeface="Courier New"/>
              </a:rPr>
              <a:t>Grafana </a:t>
            </a:r>
            <a:r>
              <a:rPr lang="en-GB" sz="1100" kern="0" dirty="0">
                <a:solidFill>
                  <a:srgbClr val="C5C6C7"/>
                </a:solidFill>
                <a:latin typeface="Courier New"/>
                <a:cs typeface="Courier New"/>
              </a:rPr>
              <a:t>is an open-source analytics &amp; monitoring platform installed in the EG5120 App </a:t>
            </a:r>
            <a:r>
              <a:rPr lang="en-GB" sz="1100" kern="0" dirty="0" smtClean="0">
                <a:solidFill>
                  <a:srgbClr val="C5C6C7"/>
                </a:solidFill>
                <a:latin typeface="Courier New"/>
                <a:cs typeface="Courier New"/>
              </a:rPr>
              <a:t>Centre </a:t>
            </a:r>
            <a:r>
              <a:rPr lang="en-GB" sz="1100" kern="0" dirty="0">
                <a:solidFill>
                  <a:srgbClr val="C5C6C7"/>
                </a:solidFill>
                <a:latin typeface="Courier New"/>
                <a:cs typeface="Courier New"/>
              </a:rPr>
              <a:t>(MING stack). It connects to </a:t>
            </a:r>
            <a:r>
              <a:rPr lang="en-GB" sz="1100" kern="0" dirty="0" smtClean="0">
                <a:solidFill>
                  <a:srgbClr val="C5C6C7"/>
                </a:solidFill>
                <a:latin typeface="Courier New"/>
                <a:cs typeface="Courier New"/>
              </a:rPr>
              <a:t>Influx DB </a:t>
            </a:r>
            <a:r>
              <a:rPr lang="en-GB" sz="1100" kern="0" dirty="0">
                <a:solidFill>
                  <a:srgbClr val="C5C6C7"/>
                </a:solidFill>
                <a:latin typeface="Courier New"/>
                <a:cs typeface="Courier New"/>
              </a:rPr>
              <a:t>as a </a:t>
            </a:r>
            <a:r>
              <a:rPr lang="en-GB" sz="1100" kern="0" dirty="0" smtClean="0">
                <a:solidFill>
                  <a:srgbClr val="C5C6C7"/>
                </a:solidFill>
                <a:latin typeface="Courier New"/>
                <a:cs typeface="Courier New"/>
              </a:rPr>
              <a:t>data source </a:t>
            </a:r>
            <a:r>
              <a:rPr lang="en-GB" sz="1100" kern="0" dirty="0">
                <a:solidFill>
                  <a:srgbClr val="C5C6C7"/>
                </a:solidFill>
                <a:latin typeface="Courier New"/>
                <a:cs typeface="Courier New"/>
              </a:rPr>
              <a:t>and renders interactive, auto-refreshing dashboards.</a:t>
            </a:r>
          </a:p>
          <a:p>
            <a:pPr>
              <a:spcBef>
                <a:spcPts val="851"/>
              </a:spcBef>
            </a:pPr>
            <a:endParaRPr sz="1100" kern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57145"/>
            <a:r>
              <a:rPr lang="en-US" sz="1300" b="1" kern="0" spc="-53" dirty="0" smtClean="0">
                <a:solidFill>
                  <a:srgbClr val="66FCF1"/>
                </a:solidFill>
                <a:latin typeface="Trebuchet MS"/>
                <a:cs typeface="Trebuchet MS"/>
              </a:rPr>
              <a:t>Dashboard </a:t>
            </a:r>
            <a:r>
              <a:rPr lang="en-US" sz="1300" b="1" kern="0" spc="-53" dirty="0">
                <a:solidFill>
                  <a:srgbClr val="66FCF1"/>
                </a:solidFill>
                <a:latin typeface="Trebuchet MS"/>
                <a:cs typeface="Trebuchet MS"/>
              </a:rPr>
              <a:t>Import Process</a:t>
            </a:r>
          </a:p>
          <a:p>
            <a:pPr marL="57145"/>
            <a:endParaRPr sz="1300" kern="0" dirty="0">
              <a:solidFill>
                <a:sysClr val="windowText" lastClr="000000"/>
              </a:solidFill>
              <a:latin typeface="Trebuchet MS"/>
              <a:cs typeface="Trebuchet MS"/>
            </a:endParaRPr>
          </a:p>
          <a:p>
            <a:pPr marL="230957" marR="210483" indent="-214293">
              <a:lnSpc>
                <a:spcPct val="160000"/>
              </a:lnSpc>
              <a:spcBef>
                <a:spcPts val="536"/>
              </a:spcBef>
              <a:buClr>
                <a:srgbClr val="66FCF1"/>
              </a:buClr>
              <a:buFontTx/>
              <a:buChar char="&gt;"/>
              <a:tabLst>
                <a:tab pos="230957" algn="l"/>
              </a:tabLst>
            </a:pPr>
            <a:r>
              <a:rPr lang="en-US" sz="1100" b="1" kern="0" spc="-4" dirty="0" smtClean="0">
                <a:solidFill>
                  <a:srgbClr val="C5C6C7"/>
                </a:solidFill>
                <a:latin typeface="Courier New"/>
                <a:cs typeface="Courier New"/>
              </a:rPr>
              <a:t>Open </a:t>
            </a:r>
            <a:r>
              <a:rPr lang="en-US" sz="1100" b="1" kern="0" spc="-4" dirty="0">
                <a:solidFill>
                  <a:srgbClr val="C5C6C7"/>
                </a:solidFill>
                <a:latin typeface="Courier New"/>
                <a:cs typeface="Courier New"/>
              </a:rPr>
              <a:t>Grafana Web Interface (port 3000</a:t>
            </a:r>
            <a:r>
              <a:rPr lang="en-US" sz="1100" b="1" kern="0" spc="-4" dirty="0" smtClean="0">
                <a:solidFill>
                  <a:srgbClr val="C5C6C7"/>
                </a:solidFill>
                <a:latin typeface="Courier New"/>
                <a:cs typeface="Courier New"/>
              </a:rPr>
              <a:t>)</a:t>
            </a:r>
          </a:p>
          <a:p>
            <a:pPr marL="230957" marR="210483" indent="-214293">
              <a:lnSpc>
                <a:spcPct val="160000"/>
              </a:lnSpc>
              <a:spcBef>
                <a:spcPts val="536"/>
              </a:spcBef>
              <a:buClr>
                <a:srgbClr val="66FCF1"/>
              </a:buClr>
              <a:buFontTx/>
              <a:buChar char="&gt;"/>
              <a:tabLst>
                <a:tab pos="230957" algn="l"/>
              </a:tabLst>
            </a:pPr>
            <a:r>
              <a:rPr lang="en-US" sz="1100" b="1" kern="0" spc="-4" dirty="0">
                <a:solidFill>
                  <a:srgbClr val="C5C6C7"/>
                </a:solidFill>
                <a:latin typeface="Courier New"/>
                <a:cs typeface="Courier New"/>
              </a:rPr>
              <a:t>Navigate to  Dashboard → </a:t>
            </a:r>
            <a:r>
              <a:rPr lang="en-US" sz="1100" b="1" kern="0" spc="-4" dirty="0" smtClean="0">
                <a:solidFill>
                  <a:srgbClr val="C5C6C7"/>
                </a:solidFill>
                <a:latin typeface="Courier New"/>
                <a:cs typeface="Courier New"/>
              </a:rPr>
              <a:t>Import</a:t>
            </a:r>
          </a:p>
          <a:p>
            <a:pPr marL="230957" marR="210483" indent="-214293">
              <a:lnSpc>
                <a:spcPct val="160000"/>
              </a:lnSpc>
              <a:spcBef>
                <a:spcPts val="536"/>
              </a:spcBef>
              <a:buClr>
                <a:srgbClr val="66FCF1"/>
              </a:buClr>
              <a:buFontTx/>
              <a:buChar char="&gt;"/>
              <a:tabLst>
                <a:tab pos="230957" algn="l"/>
              </a:tabLst>
            </a:pPr>
            <a:r>
              <a:rPr lang="en-GB" sz="1100" b="1" kern="0" spc="-4" dirty="0">
                <a:solidFill>
                  <a:srgbClr val="C5C6C7"/>
                </a:solidFill>
                <a:latin typeface="Courier New"/>
                <a:cs typeface="Courier New"/>
              </a:rPr>
              <a:t>Upload prepared JSON configuration file</a:t>
            </a:r>
          </a:p>
          <a:p>
            <a:pPr marL="230957" marR="210483" indent="-214293">
              <a:lnSpc>
                <a:spcPct val="160000"/>
              </a:lnSpc>
              <a:spcBef>
                <a:spcPts val="536"/>
              </a:spcBef>
              <a:buClr>
                <a:srgbClr val="66FCF1"/>
              </a:buClr>
              <a:buFontTx/>
              <a:buChar char="&gt;"/>
              <a:tabLst>
                <a:tab pos="230957" algn="l"/>
              </a:tabLst>
            </a:pPr>
            <a:r>
              <a:rPr lang="en-GB" sz="1100" b="1" kern="0" spc="-4" dirty="0">
                <a:solidFill>
                  <a:srgbClr val="C5C6C7"/>
                </a:solidFill>
                <a:latin typeface="Courier New"/>
                <a:cs typeface="Courier New"/>
              </a:rPr>
              <a:t>Select </a:t>
            </a:r>
            <a:r>
              <a:rPr lang="en-GB" sz="1100" b="1" kern="0" spc="-4" dirty="0" smtClean="0">
                <a:solidFill>
                  <a:srgbClr val="C5C6C7"/>
                </a:solidFill>
                <a:latin typeface="Courier New"/>
                <a:cs typeface="Courier New"/>
              </a:rPr>
              <a:t>Influx DB </a:t>
            </a:r>
            <a:r>
              <a:rPr lang="en-GB" sz="1100" b="1" kern="0" spc="-4" dirty="0">
                <a:solidFill>
                  <a:srgbClr val="C5C6C7"/>
                </a:solidFill>
                <a:latin typeface="Courier New"/>
                <a:cs typeface="Courier New"/>
              </a:rPr>
              <a:t>2.0 as data source</a:t>
            </a:r>
          </a:p>
          <a:p>
            <a:pPr marL="230957" marR="210483" indent="-214293">
              <a:lnSpc>
                <a:spcPct val="160000"/>
              </a:lnSpc>
              <a:spcBef>
                <a:spcPts val="536"/>
              </a:spcBef>
              <a:buClr>
                <a:srgbClr val="66FCF1"/>
              </a:buClr>
              <a:buFontTx/>
              <a:buChar char="&gt;"/>
              <a:tabLst>
                <a:tab pos="230957" algn="l"/>
              </a:tabLst>
            </a:pPr>
            <a:r>
              <a:rPr lang="en-GB" sz="1100" b="1" kern="0" spc="-4" dirty="0">
                <a:solidFill>
                  <a:srgbClr val="C5C6C7"/>
                </a:solidFill>
                <a:latin typeface="Courier New"/>
                <a:cs typeface="Courier New"/>
              </a:rPr>
              <a:t>Click Import — dashboard renders automatically</a:t>
            </a:r>
          </a:p>
          <a:p>
            <a:pPr marL="230957" marR="210483" indent="-214293">
              <a:lnSpc>
                <a:spcPct val="160000"/>
              </a:lnSpc>
              <a:spcBef>
                <a:spcPts val="536"/>
              </a:spcBef>
              <a:buClr>
                <a:srgbClr val="66FCF1"/>
              </a:buClr>
              <a:buFontTx/>
              <a:buChar char="&gt;"/>
              <a:tabLst>
                <a:tab pos="230957" algn="l"/>
              </a:tabLst>
            </a:pPr>
            <a:endParaRPr lang="en-US" sz="1100" b="1" kern="0" spc="-4" dirty="0">
              <a:solidFill>
                <a:srgbClr val="C5C6C7"/>
              </a:solidFill>
              <a:latin typeface="Courier New"/>
              <a:cs typeface="Courier New"/>
            </a:endParaRPr>
          </a:p>
          <a:p>
            <a:pPr marL="230957" marR="210483" indent="-214293">
              <a:lnSpc>
                <a:spcPct val="160000"/>
              </a:lnSpc>
              <a:spcBef>
                <a:spcPts val="536"/>
              </a:spcBef>
              <a:buClr>
                <a:srgbClr val="66FCF1"/>
              </a:buClr>
              <a:buFontTx/>
              <a:buChar char="&gt;"/>
              <a:tabLst>
                <a:tab pos="230957" algn="l"/>
              </a:tabLst>
            </a:pPr>
            <a:endParaRPr lang="en-US" sz="1100" b="1" kern="0" spc="-4" dirty="0">
              <a:solidFill>
                <a:srgbClr val="C5C6C7"/>
              </a:solidFill>
              <a:latin typeface="Courier New"/>
              <a:cs typeface="Courier New"/>
            </a:endParaRPr>
          </a:p>
          <a:p>
            <a:pPr marL="230957" marR="210483" indent="-214293">
              <a:lnSpc>
                <a:spcPct val="160000"/>
              </a:lnSpc>
              <a:spcBef>
                <a:spcPts val="536"/>
              </a:spcBef>
              <a:buClr>
                <a:srgbClr val="66FCF1"/>
              </a:buClr>
              <a:buFontTx/>
              <a:buChar char="&gt;"/>
              <a:tabLst>
                <a:tab pos="230957" algn="l"/>
              </a:tabLst>
            </a:pPr>
            <a:endParaRPr lang="en-GB" sz="1100" b="1" kern="0" spc="-4" dirty="0" smtClean="0">
              <a:solidFill>
                <a:srgbClr val="C5C6C7"/>
              </a:solidFill>
              <a:latin typeface="Courier New"/>
              <a:cs typeface="Courier New"/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7720" y="877475"/>
            <a:ext cx="4526279" cy="38819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43513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5099"/>
            <a:ext cx="9059694" cy="4968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2355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Arial Black" pitchFamily="34" charset="-122"/>
                <a:cs typeface="Arial Black" pitchFamily="34" charset="-120"/>
              </a:rPr>
              <a:t>ML Pipeline &amp; Trail Recommendation</a:t>
            </a:r>
            <a:endParaRPr lang="en-US" sz="2000" dirty="0">
              <a:latin typeface="Trebuchet MS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1600" i="1" dirty="0">
                <a:solidFill>
                  <a:srgbClr val="8B5CF6"/>
                </a:solidFill>
                <a:latin typeface="Trebuchet MS" pitchFamily="34" charset="0"/>
              </a:rPr>
              <a:t>From sensor data to personalized hiking suggestions</a:t>
            </a:r>
            <a:endParaRPr lang="en-US" sz="1600" dirty="0">
              <a:latin typeface="Trebuchet MS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1280160" cy="822960"/>
          </a:xfrm>
          <a:prstGeom prst="rect">
            <a:avLst/>
          </a:prstGeom>
          <a:solidFill>
            <a:srgbClr val="1C2333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60120"/>
            <a:ext cx="1280160" cy="82296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pPr algn="ctr"/>
            <a:r>
              <a:rPr lang="en-US" sz="1200" b="1" dirty="0">
                <a:solidFill>
                  <a:srgbClr val="8B5CF6"/>
                </a:solidFill>
                <a:latin typeface="Courier New" pitchFamily="49" charset="0"/>
                <a:cs typeface="Courier New" pitchFamily="49" charset="0"/>
              </a:rPr>
              <a:t>Open-Meteo</a:t>
            </a:r>
            <a:endParaRPr lang="en-US" sz="1200" dirty="0">
              <a:latin typeface="Courier New" pitchFamily="49" charset="0"/>
              <a:cs typeface="Courier New" pitchFamily="49" charset="0"/>
            </a:endParaRPr>
          </a:p>
          <a:p>
            <a:pPr algn="ctr"/>
            <a:r>
              <a:rPr lang="en-US" sz="1200" b="1" dirty="0">
                <a:solidFill>
                  <a:srgbClr val="8B5CF6"/>
                </a:solidFill>
                <a:latin typeface="Courier New" pitchFamily="49" charset="0"/>
                <a:cs typeface="Courier New" pitchFamily="49" charset="0"/>
              </a:rPr>
              <a:t>Dataset</a:t>
            </a:r>
            <a:endParaRPr lang="en-US" sz="1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508760" y="1325880"/>
            <a:ext cx="182880" cy="4572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91640" y="960120"/>
            <a:ext cx="1280160" cy="822960"/>
          </a:xfrm>
          <a:prstGeom prst="rect">
            <a:avLst/>
          </a:prstGeom>
          <a:solidFill>
            <a:srgbClr val="1C2333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91640" y="960120"/>
            <a:ext cx="1280160" cy="82296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pPr algn="ctr"/>
            <a:r>
              <a:rPr lang="en-US" sz="1200" b="1" dirty="0">
                <a:solidFill>
                  <a:srgbClr val="8B5CF6"/>
                </a:solidFill>
                <a:latin typeface="Courier New" pitchFamily="49" charset="0"/>
                <a:cs typeface="Courier New" pitchFamily="49" charset="0"/>
              </a:rPr>
              <a:t>Programmatic</a:t>
            </a:r>
            <a:endParaRPr lang="en-US" sz="1200" dirty="0">
              <a:latin typeface="Courier New" pitchFamily="49" charset="0"/>
              <a:cs typeface="Courier New" pitchFamily="49" charset="0"/>
            </a:endParaRPr>
          </a:p>
          <a:p>
            <a:pPr algn="ctr"/>
            <a:r>
              <a:rPr lang="en-US" sz="1200" b="1" dirty="0">
                <a:solidFill>
                  <a:srgbClr val="8B5CF6"/>
                </a:solidFill>
                <a:latin typeface="Courier New" pitchFamily="49" charset="0"/>
                <a:cs typeface="Courier New" pitchFamily="49" charset="0"/>
              </a:rPr>
              <a:t>Labeling</a:t>
            </a:r>
            <a:endParaRPr lang="en-US" sz="1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971800" y="1325880"/>
            <a:ext cx="182880" cy="4572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54680" y="960120"/>
            <a:ext cx="1280160" cy="822960"/>
          </a:xfrm>
          <a:prstGeom prst="rect">
            <a:avLst/>
          </a:prstGeom>
          <a:solidFill>
            <a:srgbClr val="1C2333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960120"/>
            <a:ext cx="1280160" cy="82296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pPr algn="ctr"/>
            <a:r>
              <a:rPr lang="en-US" sz="1200" b="1" dirty="0">
                <a:solidFill>
                  <a:srgbClr val="8B5CF6"/>
                </a:solidFill>
                <a:latin typeface="Courier New" pitchFamily="49" charset="0"/>
                <a:cs typeface="Courier New" pitchFamily="49" charset="0"/>
              </a:rPr>
              <a:t>Train Random</a:t>
            </a:r>
            <a:endParaRPr lang="en-US" sz="1200" dirty="0">
              <a:latin typeface="Courier New" pitchFamily="49" charset="0"/>
              <a:cs typeface="Courier New" pitchFamily="49" charset="0"/>
            </a:endParaRPr>
          </a:p>
          <a:p>
            <a:pPr algn="ctr"/>
            <a:r>
              <a:rPr lang="en-US" sz="1200" b="1" dirty="0">
                <a:solidFill>
                  <a:srgbClr val="8B5CF6"/>
                </a:solidFill>
                <a:latin typeface="Courier New" pitchFamily="49" charset="0"/>
                <a:cs typeface="Courier New" pitchFamily="49" charset="0"/>
              </a:rPr>
              <a:t>Forest (PC)</a:t>
            </a:r>
            <a:endParaRPr lang="en-US" sz="1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434840" y="1325880"/>
            <a:ext cx="182880" cy="4572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960120"/>
            <a:ext cx="1280160" cy="822960"/>
          </a:xfrm>
          <a:prstGeom prst="rect">
            <a:avLst/>
          </a:prstGeom>
          <a:solidFill>
            <a:srgbClr val="1C2333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960120"/>
            <a:ext cx="1280160" cy="82296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pPr algn="ctr"/>
            <a:r>
              <a:rPr lang="en-US" sz="1200" b="1" dirty="0">
                <a:solidFill>
                  <a:srgbClr val="8B5CF6"/>
                </a:solidFill>
                <a:latin typeface="Courier New" pitchFamily="49" charset="0"/>
                <a:cs typeface="Courier New" pitchFamily="49" charset="0"/>
              </a:rPr>
              <a:t>Export</a:t>
            </a:r>
            <a:endParaRPr lang="en-US" sz="1200" dirty="0">
              <a:latin typeface="Courier New" pitchFamily="49" charset="0"/>
              <a:cs typeface="Courier New" pitchFamily="49" charset="0"/>
            </a:endParaRPr>
          </a:p>
          <a:p>
            <a:pPr algn="ctr"/>
            <a:r>
              <a:rPr lang="en-US" sz="1200" b="1" dirty="0">
                <a:solidFill>
                  <a:srgbClr val="8B5CF6"/>
                </a:solidFill>
                <a:latin typeface="Courier New" pitchFamily="49" charset="0"/>
                <a:cs typeface="Courier New" pitchFamily="49" charset="0"/>
              </a:rPr>
              <a:t>.pkl Model</a:t>
            </a:r>
            <a:endParaRPr lang="en-US" sz="1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897880" y="1325880"/>
            <a:ext cx="182880" cy="4572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0760" y="960120"/>
            <a:ext cx="1280160" cy="822960"/>
          </a:xfrm>
          <a:prstGeom prst="rect">
            <a:avLst/>
          </a:prstGeom>
          <a:solidFill>
            <a:srgbClr val="1C2333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960120"/>
            <a:ext cx="1280160" cy="82296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pPr algn="ctr"/>
            <a:r>
              <a:rPr lang="en-US" sz="1200" b="1" dirty="0">
                <a:solidFill>
                  <a:srgbClr val="8B5CF6"/>
                </a:solidFill>
                <a:latin typeface="Courier New" pitchFamily="49" charset="0"/>
                <a:cs typeface="Courier New" pitchFamily="49" charset="0"/>
              </a:rPr>
              <a:t>Deploy to</a:t>
            </a:r>
            <a:endParaRPr lang="en-US" sz="1200" dirty="0">
              <a:latin typeface="Courier New" pitchFamily="49" charset="0"/>
              <a:cs typeface="Courier New" pitchFamily="49" charset="0"/>
            </a:endParaRPr>
          </a:p>
          <a:p>
            <a:pPr algn="ctr"/>
            <a:r>
              <a:rPr lang="en-US" sz="1200" b="1" dirty="0">
                <a:solidFill>
                  <a:srgbClr val="8B5CF6"/>
                </a:solidFill>
                <a:latin typeface="Courier New" pitchFamily="49" charset="0"/>
                <a:cs typeface="Courier New" pitchFamily="49" charset="0"/>
              </a:rPr>
              <a:t>EG5120 (SCP)</a:t>
            </a:r>
            <a:endParaRPr lang="en-US" sz="1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360920" y="1325880"/>
            <a:ext cx="182880" cy="4572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43800" y="960120"/>
            <a:ext cx="1280160" cy="822960"/>
          </a:xfrm>
          <a:prstGeom prst="rect">
            <a:avLst/>
          </a:prstGeom>
          <a:solidFill>
            <a:srgbClr val="1C2333"/>
          </a:solidFill>
          <a:ln w="19050">
            <a:solidFill>
              <a:srgbClr val="00D9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43800" y="960120"/>
            <a:ext cx="1280160" cy="82296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pPr algn="ctr"/>
            <a:r>
              <a:rPr lang="en-US" sz="1200" b="1" dirty="0">
                <a:solidFill>
                  <a:srgbClr val="00D9A8"/>
                </a:solidFill>
                <a:latin typeface="Courier New" pitchFamily="49" charset="0"/>
                <a:cs typeface="Courier New" pitchFamily="49" charset="0"/>
              </a:rPr>
              <a:t>Edge</a:t>
            </a:r>
            <a:endParaRPr lang="en-US" sz="1200" dirty="0">
              <a:latin typeface="Courier New" pitchFamily="49" charset="0"/>
              <a:cs typeface="Courier New" pitchFamily="49" charset="0"/>
            </a:endParaRPr>
          </a:p>
          <a:p>
            <a:pPr algn="ctr"/>
            <a:r>
              <a:rPr lang="en-US" sz="1200" b="1" dirty="0">
                <a:solidFill>
                  <a:srgbClr val="00D9A8"/>
                </a:solidFill>
                <a:latin typeface="Courier New" pitchFamily="49" charset="0"/>
                <a:cs typeface="Courier New" pitchFamily="49" charset="0"/>
              </a:rPr>
              <a:t>Inference</a:t>
            </a:r>
            <a:endParaRPr lang="en-US" sz="1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28600" y="1920240"/>
            <a:ext cx="4206240" cy="32004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Weather Vibe Categories</a:t>
            </a:r>
            <a:endParaRPr lang="en-US" sz="1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74320" y="2331720"/>
            <a:ext cx="2103120" cy="41148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❄  </a:t>
            </a:r>
            <a:r>
              <a:rPr lang="en-US" sz="11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Frosty  —  Below 0°C</a:t>
            </a:r>
          </a:p>
        </p:txBody>
      </p:sp>
      <p:sp>
        <p:nvSpPr>
          <p:cNvPr id="24" name="Text 22"/>
          <p:cNvSpPr/>
          <p:nvPr/>
        </p:nvSpPr>
        <p:spPr>
          <a:xfrm>
            <a:off x="274320" y="2834640"/>
            <a:ext cx="2103120" cy="41148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🌬  </a:t>
            </a:r>
            <a:r>
              <a:rPr lang="en-US" sz="11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Brisk  —  0–10°C, High Humidity</a:t>
            </a:r>
          </a:p>
        </p:txBody>
      </p:sp>
      <p:sp>
        <p:nvSpPr>
          <p:cNvPr id="25" name="Text 23"/>
          <p:cNvSpPr/>
          <p:nvPr/>
        </p:nvSpPr>
        <p:spPr>
          <a:xfrm>
            <a:off x="274320" y="3337560"/>
            <a:ext cx="2103120" cy="41148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🍂  Crisp  —  0–15°C, Low Humidity</a:t>
            </a:r>
          </a:p>
        </p:txBody>
      </p:sp>
      <p:sp>
        <p:nvSpPr>
          <p:cNvPr id="26" name="Text 24"/>
          <p:cNvSpPr/>
          <p:nvPr/>
        </p:nvSpPr>
        <p:spPr>
          <a:xfrm>
            <a:off x="2468880" y="2331720"/>
            <a:ext cx="2103120" cy="41148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☁  </a:t>
            </a:r>
            <a:r>
              <a:rPr lang="en-US" sz="11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Moody  —  10–20°C, Very High Humidity</a:t>
            </a:r>
          </a:p>
        </p:txBody>
      </p:sp>
      <p:sp>
        <p:nvSpPr>
          <p:cNvPr id="27" name="Text 25"/>
          <p:cNvSpPr/>
          <p:nvPr/>
        </p:nvSpPr>
        <p:spPr>
          <a:xfrm>
            <a:off x="2468880" y="2834640"/>
            <a:ext cx="2103120" cy="41148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☀ </a:t>
            </a:r>
            <a:r>
              <a:rPr lang="en-US" sz="11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Serene  —  15–25°C, Moderate</a:t>
            </a:r>
          </a:p>
        </p:txBody>
      </p:sp>
      <p:sp>
        <p:nvSpPr>
          <p:cNvPr id="28" name="Text 26"/>
          <p:cNvSpPr/>
          <p:nvPr/>
        </p:nvSpPr>
        <p:spPr>
          <a:xfrm>
            <a:off x="2468880" y="3337560"/>
            <a:ext cx="2103120" cy="41148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🔆  Sun-Drenched  —  Above 25°C, Low Humidity</a:t>
            </a:r>
          </a:p>
        </p:txBody>
      </p:sp>
      <p:sp>
        <p:nvSpPr>
          <p:cNvPr id="29" name="Shape 27"/>
          <p:cNvSpPr/>
          <p:nvPr/>
        </p:nvSpPr>
        <p:spPr>
          <a:xfrm>
            <a:off x="4572000" y="1874520"/>
            <a:ext cx="4343400" cy="2926080"/>
          </a:xfrm>
          <a:prstGeom prst="rect">
            <a:avLst/>
          </a:prstGeom>
          <a:solidFill>
            <a:srgbClr val="1C2333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0" y="1874520"/>
            <a:ext cx="4343400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1892808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</a:rPr>
              <a:t>Content-Based Filtering (CBF)</a:t>
            </a:r>
            <a:endParaRPr lang="en-US" sz="1200" dirty="0">
              <a:latin typeface="Trebuchet MS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663440" y="2304288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8B5CF6"/>
                </a:solidFill>
              </a:rPr>
              <a:t>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83480" y="2304288"/>
            <a:ext cx="3840480" cy="384048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1100" dirty="0">
                <a:solidFill>
                  <a:srgbClr val="E6EDF3"/>
                </a:solidFill>
                <a:latin typeface="Courier New" pitchFamily="49" charset="0"/>
                <a:cs typeface="Courier New" pitchFamily="49" charset="0"/>
              </a:rPr>
              <a:t>User selects preferences: vibe, slope, width, noise tolerance</a:t>
            </a:r>
            <a:endParaRPr lang="en-US" sz="11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663440" y="2779776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8B5CF6"/>
                </a:solidFill>
              </a:rPr>
              <a:t>2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83480" y="2779776"/>
            <a:ext cx="3840480" cy="384048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1100" dirty="0">
                <a:solidFill>
                  <a:srgbClr val="E6EDF3"/>
                </a:solidFill>
                <a:latin typeface="Courier New" pitchFamily="49" charset="0"/>
                <a:cs typeface="Courier New" pitchFamily="49" charset="0"/>
              </a:rPr>
              <a:t>System builds user preference vector from Firestore trail data</a:t>
            </a:r>
            <a:endParaRPr lang="en-US" sz="11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663440" y="3255264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8B5CF6"/>
                </a:solidFill>
              </a:rPr>
              <a:t>3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83480" y="3255264"/>
            <a:ext cx="3840480" cy="384048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1100" dirty="0">
                <a:solidFill>
                  <a:srgbClr val="E6EDF3"/>
                </a:solidFill>
                <a:latin typeface="Courier New" pitchFamily="49" charset="0"/>
                <a:cs typeface="Courier New" pitchFamily="49" charset="0"/>
              </a:rPr>
              <a:t>Compute intersection per category (vibe, slope, width, noise)</a:t>
            </a:r>
            <a:endParaRPr lang="en-US" sz="11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663440" y="3730752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8B5CF6"/>
                </a:solidFill>
              </a:rPr>
              <a:t>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83480" y="3730752"/>
            <a:ext cx="3840480" cy="384048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1100" dirty="0">
                <a:solidFill>
                  <a:srgbClr val="E6EDF3"/>
                </a:solidFill>
                <a:latin typeface="Courier New" pitchFamily="49" charset="0"/>
                <a:cs typeface="Courier New" pitchFamily="49" charset="0"/>
              </a:rPr>
              <a:t>4 category scores aggregated into final match percentage</a:t>
            </a:r>
            <a:endParaRPr lang="en-US" sz="11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663440" y="4206240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8B5CF6"/>
                </a:solidFill>
              </a:rPr>
              <a:t>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83480" y="4206240"/>
            <a:ext cx="3840480" cy="384048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900" dirty="0">
                <a:solidFill>
                  <a:srgbClr val="E6EDF3"/>
                </a:solidFill>
              </a:rPr>
              <a:t>Top 5 trails ranked by match score returned to user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28600" y="4114800"/>
            <a:ext cx="8686800" cy="685800"/>
          </a:xfrm>
          <a:prstGeom prst="rect">
            <a:avLst/>
          </a:prstGeom>
          <a:solidFill>
            <a:srgbClr val="21262D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4114800"/>
            <a:ext cx="8503920" cy="68580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1100" b="1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✅  Near-perfect classification — micro avg precision / recall / F1 = 1.00 across all 6 vibe categories</a:t>
            </a:r>
            <a:endParaRPr lang="en-US" sz="11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pPr algn="ctr"/>
            <a:r>
              <a:rPr lang="en-US" sz="800" dirty="0">
                <a:solidFill>
                  <a:srgbClr val="8B949E"/>
                </a:solidFill>
              </a:rPr>
              <a:t>Smart IoT Environmental Monitoring  |  Giganti della Sila Park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95275"/>
            <a:ext cx="8839200" cy="4468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6135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9A8"/>
          </a:solidFill>
          <a:ln w="12700">
            <a:solidFill>
              <a:srgbClr val="00D9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Arial Black" pitchFamily="34" charset="-122"/>
                <a:cs typeface="Arial Black" pitchFamily="34" charset="-120"/>
              </a:rPr>
              <a:t>Web Administration Platform &amp; RAG Chatbot</a:t>
            </a:r>
            <a:endParaRPr lang="en-US" sz="2000" dirty="0">
              <a:latin typeface="Trebuchet MS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1600" i="1" dirty="0">
                <a:solidFill>
                  <a:srgbClr val="00D9A8"/>
                </a:solidFill>
                <a:latin typeface="Trebuchet MS" pitchFamily="34" charset="0"/>
              </a:rPr>
              <a:t>Vue.js 3 Frontend + FastAPI Backend + Groq-powered RAG</a:t>
            </a:r>
            <a:endParaRPr lang="en-US" sz="1600" dirty="0">
              <a:latin typeface="Trebuchet MS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114800" cy="2286000"/>
          </a:xfrm>
          <a:prstGeom prst="rect">
            <a:avLst/>
          </a:prstGeom>
          <a:solidFill>
            <a:srgbClr val="1C2333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60120"/>
            <a:ext cx="4114800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7840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</a:rPr>
              <a:t>⚛️  Vue.js 3 Frontend</a:t>
            </a:r>
            <a:endParaRPr lang="en-US" sz="1400" dirty="0">
              <a:latin typeface="Trebuchet MS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1399032"/>
            <a:ext cx="3840480" cy="384048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pPr marL="342875" indent="-342875">
              <a:buSzPct val="100000"/>
              <a:buChar char="•"/>
            </a:pPr>
            <a:r>
              <a:rPr lang="en-US" sz="1100" dirty="0" smtClean="0">
                <a:solidFill>
                  <a:srgbClr val="E6EDF3"/>
                </a:solidFill>
                <a:latin typeface="Courier New" pitchFamily="49" charset="0"/>
                <a:cs typeface="Courier New" pitchFamily="49" charset="0"/>
              </a:rPr>
              <a:t>real-time </a:t>
            </a:r>
            <a:r>
              <a:rPr lang="en-US" sz="1100" dirty="0">
                <a:solidFill>
                  <a:srgbClr val="E6EDF3"/>
                </a:solidFill>
                <a:latin typeface="Courier New" pitchFamily="49" charset="0"/>
                <a:cs typeface="Courier New" pitchFamily="49" charset="0"/>
              </a:rPr>
              <a:t>measurements from all deployed gateways</a:t>
            </a:r>
            <a:endParaRPr lang="en-US" sz="11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3840480" cy="384048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pPr marL="342875" indent="-342875">
              <a:buSzPct val="100000"/>
              <a:buChar char="•"/>
            </a:pPr>
            <a:r>
              <a:rPr lang="en-US" sz="1100" dirty="0" smtClean="0">
                <a:solidFill>
                  <a:srgbClr val="E6EDF3"/>
                </a:solidFill>
                <a:latin typeface="Courier New" pitchFamily="49" charset="0"/>
                <a:cs typeface="Courier New" pitchFamily="49" charset="0"/>
              </a:rPr>
              <a:t>interactive </a:t>
            </a:r>
            <a:r>
              <a:rPr lang="en-US" sz="1100" dirty="0">
                <a:solidFill>
                  <a:srgbClr val="E6EDF3"/>
                </a:solidFill>
                <a:latin typeface="Courier New" pitchFamily="49" charset="0"/>
                <a:cs typeface="Courier New" pitchFamily="49" charset="0"/>
              </a:rPr>
              <a:t>GPS map of monitoring stations</a:t>
            </a:r>
          </a:p>
        </p:txBody>
      </p:sp>
      <p:sp>
        <p:nvSpPr>
          <p:cNvPr id="10" name="Text 8"/>
          <p:cNvSpPr/>
          <p:nvPr/>
        </p:nvSpPr>
        <p:spPr>
          <a:xfrm>
            <a:off x="365760" y="2258568"/>
            <a:ext cx="3840480" cy="384048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pPr marL="342875" indent="-342875">
              <a:buSzPct val="100000"/>
              <a:buChar char="•"/>
            </a:pPr>
            <a:r>
              <a:rPr lang="en-US" sz="1100" dirty="0" smtClean="0">
                <a:solidFill>
                  <a:srgbClr val="E6EDF3"/>
                </a:solidFill>
                <a:latin typeface="Courier New" pitchFamily="49" charset="0"/>
                <a:cs typeface="Courier New" pitchFamily="49" charset="0"/>
              </a:rPr>
              <a:t>historical </a:t>
            </a:r>
            <a:r>
              <a:rPr lang="en-US" sz="1100" dirty="0">
                <a:solidFill>
                  <a:srgbClr val="E6EDF3"/>
                </a:solidFill>
                <a:latin typeface="Courier New" pitchFamily="49" charset="0"/>
                <a:cs typeface="Courier New" pitchFamily="49" charset="0"/>
              </a:rPr>
              <a:t>&amp; real-time trends</a:t>
            </a:r>
          </a:p>
        </p:txBody>
      </p:sp>
      <p:sp>
        <p:nvSpPr>
          <p:cNvPr id="11" name="Text 9"/>
          <p:cNvSpPr/>
          <p:nvPr/>
        </p:nvSpPr>
        <p:spPr>
          <a:xfrm>
            <a:off x="365760" y="2688336"/>
            <a:ext cx="3840480" cy="384048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pPr marL="342875" indent="-342875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ourier New" pitchFamily="49" charset="0"/>
                <a:cs typeface="Courier New" pitchFamily="49" charset="0"/>
              </a:rPr>
              <a:t>Reactive Architecture </a:t>
            </a:r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4114800" cy="2286000"/>
          </a:xfrm>
          <a:prstGeom prst="rect">
            <a:avLst/>
          </a:prstGeom>
          <a:solidFill>
            <a:srgbClr val="1C2333"/>
          </a:solidFill>
          <a:ln w="19050">
            <a:solidFill>
              <a:srgbClr val="00D9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960120"/>
            <a:ext cx="4114800" cy="347472"/>
          </a:xfrm>
          <a:prstGeom prst="rect">
            <a:avLst/>
          </a:prstGeom>
          <a:solidFill>
            <a:srgbClr val="00D9A8"/>
          </a:solidFill>
          <a:ln w="12700">
            <a:solidFill>
              <a:srgbClr val="00D9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97840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</a:rPr>
              <a:t>🔧  FastAPI Backend</a:t>
            </a:r>
            <a:endParaRPr lang="en-US" sz="1400" dirty="0">
              <a:latin typeface="Trebuchet MS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46320" y="1399032"/>
            <a:ext cx="3931920" cy="384048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pPr marL="342875" indent="-342875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ourier New" pitchFamily="49" charset="0"/>
                <a:cs typeface="Courier New" pitchFamily="49" charset="0"/>
              </a:rPr>
              <a:t>Data Ingestion </a:t>
            </a:r>
          </a:p>
        </p:txBody>
      </p:sp>
      <p:sp>
        <p:nvSpPr>
          <p:cNvPr id="16" name="Text 14"/>
          <p:cNvSpPr/>
          <p:nvPr/>
        </p:nvSpPr>
        <p:spPr>
          <a:xfrm>
            <a:off x="4846320" y="1828800"/>
            <a:ext cx="3931920" cy="384048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pPr marL="342875" indent="-342875">
              <a:buSzPct val="100000"/>
              <a:buChar char="•"/>
            </a:pPr>
            <a:r>
              <a:rPr lang="en-US" sz="1100" dirty="0" smtClean="0">
                <a:solidFill>
                  <a:srgbClr val="E6EDF3"/>
                </a:solidFill>
                <a:latin typeface="Courier New" pitchFamily="49" charset="0"/>
                <a:cs typeface="Courier New" pitchFamily="49" charset="0"/>
              </a:rPr>
              <a:t>Influx DB Integration</a:t>
            </a:r>
            <a:endParaRPr lang="en-US" sz="1100" dirty="0">
              <a:solidFill>
                <a:srgbClr val="E6EDF3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46320" y="2258568"/>
            <a:ext cx="3931920" cy="384048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pPr marL="342875" indent="-342875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ourier New" pitchFamily="49" charset="0"/>
                <a:cs typeface="Courier New" pitchFamily="49" charset="0"/>
              </a:rPr>
              <a:t>RESTful</a:t>
            </a:r>
            <a:r>
              <a:rPr lang="en-US" sz="1100" dirty="0">
                <a:solidFill>
                  <a:srgbClr val="E6EDF3"/>
                </a:solidFill>
                <a:latin typeface="Courier New" pitchFamily="49" charset="0"/>
                <a:cs typeface="Courier New" pitchFamily="49" charset="0"/>
              </a:rPr>
              <a:t> API </a:t>
            </a:r>
          </a:p>
        </p:txBody>
      </p:sp>
      <p:sp>
        <p:nvSpPr>
          <p:cNvPr id="18" name="Text 16"/>
          <p:cNvSpPr/>
          <p:nvPr/>
        </p:nvSpPr>
        <p:spPr>
          <a:xfrm>
            <a:off x="4846320" y="2688336"/>
            <a:ext cx="3931920" cy="384048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pPr marL="342875" indent="-342875"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ourier New" pitchFamily="49" charset="0"/>
                <a:cs typeface="Courier New" pitchFamily="49" charset="0"/>
              </a:rPr>
              <a:t>Pydantic Validation + Auth middleware + CORS + RBAC</a:t>
            </a:r>
          </a:p>
        </p:txBody>
      </p:sp>
      <p:sp>
        <p:nvSpPr>
          <p:cNvPr id="19" name="Shape 17"/>
          <p:cNvSpPr/>
          <p:nvPr/>
        </p:nvSpPr>
        <p:spPr>
          <a:xfrm>
            <a:off x="228600" y="3383280"/>
            <a:ext cx="8641080" cy="1463040"/>
          </a:xfrm>
          <a:prstGeom prst="rect">
            <a:avLst/>
          </a:prstGeom>
          <a:solidFill>
            <a:srgbClr val="1C2333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3383280"/>
            <a:ext cx="8641080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401568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</a:rPr>
              <a:t>🤖  RAG-Based Intelligent Chatbot (Groq API)</a:t>
            </a:r>
            <a:endParaRPr lang="en-US" sz="1200" dirty="0">
              <a:latin typeface="Trebuchet MS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74320" y="3822192"/>
            <a:ext cx="1280160" cy="80467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8221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8B5CF6"/>
                </a:solidFill>
              </a:rPr>
              <a:t>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4078224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Admin submits query</a:t>
            </a:r>
          </a:p>
        </p:txBody>
      </p:sp>
      <p:sp>
        <p:nvSpPr>
          <p:cNvPr id="25" name="Shape 23"/>
          <p:cNvSpPr/>
          <p:nvPr/>
        </p:nvSpPr>
        <p:spPr>
          <a:xfrm>
            <a:off x="1700784" y="3822192"/>
            <a:ext cx="1280160" cy="80467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00784" y="38221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8B5CF6"/>
                </a:solidFill>
              </a:rPr>
              <a:t>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700784" y="4078224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FastAPI routes request</a:t>
            </a:r>
          </a:p>
        </p:txBody>
      </p:sp>
      <p:sp>
        <p:nvSpPr>
          <p:cNvPr id="28" name="Shape 26"/>
          <p:cNvSpPr/>
          <p:nvPr/>
        </p:nvSpPr>
        <p:spPr>
          <a:xfrm>
            <a:off x="3127248" y="3822192"/>
            <a:ext cx="1280160" cy="80467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27248" y="38221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8B5CF6"/>
                </a:solidFill>
              </a:rPr>
              <a:t>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127248" y="4078224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InfluxDB queried</a:t>
            </a:r>
          </a:p>
        </p:txBody>
      </p:sp>
      <p:sp>
        <p:nvSpPr>
          <p:cNvPr id="31" name="Shape 29"/>
          <p:cNvSpPr/>
          <p:nvPr/>
        </p:nvSpPr>
        <p:spPr>
          <a:xfrm>
            <a:off x="4553712" y="3822192"/>
            <a:ext cx="1280160" cy="80467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53712" y="38221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8B5CF6"/>
                </a:solidFill>
              </a:rPr>
              <a:t>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53712" y="4078224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Constrained prompt built</a:t>
            </a:r>
          </a:p>
        </p:txBody>
      </p:sp>
      <p:sp>
        <p:nvSpPr>
          <p:cNvPr id="34" name="Shape 32"/>
          <p:cNvSpPr/>
          <p:nvPr/>
        </p:nvSpPr>
        <p:spPr>
          <a:xfrm>
            <a:off x="5980176" y="3822192"/>
            <a:ext cx="1280160" cy="80467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80176" y="38221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8B5CF6"/>
                </a:solidFill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80176" y="4078224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Groq API inference</a:t>
            </a:r>
          </a:p>
        </p:txBody>
      </p:sp>
      <p:sp>
        <p:nvSpPr>
          <p:cNvPr id="37" name="Shape 35"/>
          <p:cNvSpPr/>
          <p:nvPr/>
        </p:nvSpPr>
        <p:spPr>
          <a:xfrm>
            <a:off x="7406640" y="3822192"/>
            <a:ext cx="1280160" cy="80467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06640" y="38221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8B5CF6"/>
                </a:solidFill>
              </a:rPr>
              <a:t>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406640" y="4078224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Response returned</a:t>
            </a:r>
          </a:p>
        </p:txBody>
      </p:sp>
      <p:sp>
        <p:nvSpPr>
          <p:cNvPr id="40" name="Shape 3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pPr algn="ctr"/>
            <a:r>
              <a:rPr lang="en-US" sz="800" dirty="0">
                <a:solidFill>
                  <a:srgbClr val="8B949E"/>
                </a:solidFill>
              </a:rPr>
              <a:t>Smart IoT Environmental Monitoring  |  Giganti della Sila Park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" y="103188"/>
            <a:ext cx="9029700" cy="4852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033209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00" y="165600"/>
            <a:ext cx="5184000" cy="473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754481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9A8"/>
          </a:solidFill>
          <a:ln w="12700">
            <a:solidFill>
              <a:srgbClr val="00D9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Arial Black" pitchFamily="34" charset="-122"/>
                <a:cs typeface="Arial Black" pitchFamily="34" charset="-120"/>
              </a:rPr>
              <a:t>Deployment Procedure</a:t>
            </a:r>
            <a:endParaRPr lang="en-US" sz="2000" dirty="0">
              <a:latin typeface="Trebuchet MS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1600" i="1" dirty="0">
                <a:solidFill>
                  <a:srgbClr val="00D9A8"/>
                </a:solidFill>
                <a:latin typeface="Trebuchet MS" pitchFamily="34" charset="0"/>
              </a:rPr>
              <a:t>Two-phase deployment: Hardware → Software</a:t>
            </a:r>
            <a:endParaRPr lang="en-US" sz="1600" dirty="0">
              <a:latin typeface="Trebuchet MS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114800" cy="3840480"/>
          </a:xfrm>
          <a:prstGeom prst="rect">
            <a:avLst/>
          </a:prstGeom>
          <a:solidFill>
            <a:srgbClr val="1C2333"/>
          </a:solidFill>
          <a:ln w="19050">
            <a:solidFill>
              <a:srgbClr val="00D9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60120"/>
            <a:ext cx="4114800" cy="365760"/>
          </a:xfrm>
          <a:prstGeom prst="rect">
            <a:avLst/>
          </a:prstGeom>
          <a:solidFill>
            <a:srgbClr val="00D9A8"/>
          </a:solidFill>
          <a:ln w="12700">
            <a:solidFill>
              <a:srgbClr val="00D9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7840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</a:rPr>
              <a:t>🔧  Phase 1: Hardware Deployment</a:t>
            </a:r>
            <a:endParaRPr lang="en-US" sz="1400" dirty="0">
              <a:latin typeface="Trebuchet MS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274320" cy="274320"/>
          </a:xfrm>
          <a:prstGeom prst="rect">
            <a:avLst/>
          </a:prstGeom>
          <a:solidFill>
            <a:srgbClr val="00D9A8"/>
          </a:solidFill>
          <a:ln w="12700">
            <a:solidFill>
              <a:srgbClr val="00D9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417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>
                <a:solidFill>
                  <a:srgbClr val="0D1117"/>
                </a:solidFill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21792" y="1417320"/>
            <a:ext cx="3611880" cy="45720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Conduct site </a:t>
            </a:r>
            <a:r>
              <a:rPr lang="en-US" sz="1100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survey</a:t>
            </a:r>
            <a:endParaRPr lang="en-US" sz="1100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1938528"/>
            <a:ext cx="274320" cy="274320"/>
          </a:xfrm>
          <a:prstGeom prst="rect">
            <a:avLst/>
          </a:prstGeom>
          <a:solidFill>
            <a:srgbClr val="00D9A8"/>
          </a:solidFill>
          <a:ln w="12700">
            <a:solidFill>
              <a:srgbClr val="00D9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938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>
                <a:solidFill>
                  <a:srgbClr val="0D1117"/>
                </a:solidFill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21792" y="1938528"/>
            <a:ext cx="3611880" cy="45720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Mount S6000U sensor at 2–3m height with unobstructed view</a:t>
            </a:r>
          </a:p>
        </p:txBody>
      </p:sp>
      <p:sp>
        <p:nvSpPr>
          <p:cNvPr id="14" name="Shape 12"/>
          <p:cNvSpPr/>
          <p:nvPr/>
        </p:nvSpPr>
        <p:spPr>
          <a:xfrm>
            <a:off x="274320" y="2459736"/>
            <a:ext cx="274320" cy="274320"/>
          </a:xfrm>
          <a:prstGeom prst="rect">
            <a:avLst/>
          </a:prstGeom>
          <a:solidFill>
            <a:srgbClr val="00D9A8"/>
          </a:solidFill>
          <a:ln w="12700">
            <a:solidFill>
              <a:srgbClr val="00D9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459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>
                <a:solidFill>
                  <a:srgbClr val="0D1117"/>
                </a:solidFill>
              </a:rPr>
              <a:t>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21792" y="2459736"/>
            <a:ext cx="3611880" cy="45720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Install EG5120 gateway in IP65 weatherproof enclosure</a:t>
            </a:r>
          </a:p>
        </p:txBody>
      </p:sp>
      <p:sp>
        <p:nvSpPr>
          <p:cNvPr id="17" name="Shape 15"/>
          <p:cNvSpPr/>
          <p:nvPr/>
        </p:nvSpPr>
        <p:spPr>
          <a:xfrm>
            <a:off x="274320" y="2980944"/>
            <a:ext cx="274320" cy="274320"/>
          </a:xfrm>
          <a:prstGeom prst="rect">
            <a:avLst/>
          </a:prstGeom>
          <a:solidFill>
            <a:srgbClr val="00D9A8"/>
          </a:solidFill>
          <a:ln w="12700">
            <a:solidFill>
              <a:srgbClr val="00D9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980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>
                <a:solidFill>
                  <a:srgbClr val="0D1117"/>
                </a:solidFill>
              </a:rPr>
              <a:t>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21792" y="2980944"/>
            <a:ext cx="3611880" cy="45720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Connect RS485 cable (max 1,200m run) and DC 12–24V power</a:t>
            </a:r>
          </a:p>
        </p:txBody>
      </p:sp>
      <p:sp>
        <p:nvSpPr>
          <p:cNvPr id="20" name="Shape 18"/>
          <p:cNvSpPr/>
          <p:nvPr/>
        </p:nvSpPr>
        <p:spPr>
          <a:xfrm>
            <a:off x="274320" y="3502152"/>
            <a:ext cx="274320" cy="274320"/>
          </a:xfrm>
          <a:prstGeom prst="rect">
            <a:avLst/>
          </a:prstGeom>
          <a:solidFill>
            <a:srgbClr val="00D9A8"/>
          </a:solidFill>
          <a:ln w="12700">
            <a:solidFill>
              <a:srgbClr val="00D9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502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>
                <a:solidFill>
                  <a:srgbClr val="0D1117"/>
                </a:solidFill>
              </a:rPr>
              <a:t>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21792" y="3502152"/>
            <a:ext cx="3611880" cy="45720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Insert SIMs, attach 4G/5G and GPS antennas</a:t>
            </a:r>
          </a:p>
        </p:txBody>
      </p:sp>
      <p:sp>
        <p:nvSpPr>
          <p:cNvPr id="23" name="Shape 21"/>
          <p:cNvSpPr/>
          <p:nvPr/>
        </p:nvSpPr>
        <p:spPr>
          <a:xfrm>
            <a:off x="274320" y="4023360"/>
            <a:ext cx="274320" cy="274320"/>
          </a:xfrm>
          <a:prstGeom prst="rect">
            <a:avLst/>
          </a:prstGeom>
          <a:solidFill>
            <a:srgbClr val="00D9A8"/>
          </a:solidFill>
          <a:ln w="12700">
            <a:solidFill>
              <a:srgbClr val="00D9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>
                <a:solidFill>
                  <a:srgbClr val="0D1117"/>
                </a:solidFill>
              </a:rPr>
              <a:t>6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21792" y="4023360"/>
            <a:ext cx="3611880" cy="45720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Power on and verify LED status indicators</a:t>
            </a:r>
          </a:p>
        </p:txBody>
      </p:sp>
      <p:sp>
        <p:nvSpPr>
          <p:cNvPr id="26" name="Shape 24"/>
          <p:cNvSpPr/>
          <p:nvPr/>
        </p:nvSpPr>
        <p:spPr>
          <a:xfrm>
            <a:off x="4709160" y="960120"/>
            <a:ext cx="4206240" cy="3840480"/>
          </a:xfrm>
          <a:prstGeom prst="rect">
            <a:avLst/>
          </a:prstGeom>
          <a:solidFill>
            <a:srgbClr val="1C2333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960120"/>
            <a:ext cx="4206240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97840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</a:rPr>
              <a:t>💻  Phase 2: Software Deployment</a:t>
            </a:r>
            <a:endParaRPr lang="en-US" sz="1400" dirty="0">
              <a:latin typeface="Trebuchet MS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754880" y="1417320"/>
            <a:ext cx="4069080" cy="86868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1417320"/>
            <a:ext cx="64008" cy="8686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1444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Step 1 — Model Transfer</a:t>
            </a:r>
            <a:endParaRPr lang="en-US" sz="1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864608" y="171907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Random Forest exported as .pkl</a:t>
            </a:r>
          </a:p>
          <a:p>
            <a:r>
              <a:rPr lang="en-US" sz="11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predictor.py prepared → SCP upload to EG5120</a:t>
            </a:r>
          </a:p>
        </p:txBody>
      </p:sp>
      <p:sp>
        <p:nvSpPr>
          <p:cNvPr id="33" name="Shape 31"/>
          <p:cNvSpPr/>
          <p:nvPr/>
        </p:nvSpPr>
        <p:spPr>
          <a:xfrm>
            <a:off x="4754880" y="2423160"/>
            <a:ext cx="4069080" cy="86868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2423160"/>
            <a:ext cx="64008" cy="8686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608" y="2450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Step 2 — Edge Integration</a:t>
            </a:r>
          </a:p>
        </p:txBody>
      </p:sp>
      <p:sp>
        <p:nvSpPr>
          <p:cNvPr id="36" name="Text 34"/>
          <p:cNvSpPr/>
          <p:nvPr/>
        </p:nvSpPr>
        <p:spPr>
          <a:xfrm>
            <a:off x="4864608" y="272491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Model stored on gateway</a:t>
            </a:r>
          </a:p>
          <a:p>
            <a:r>
              <a:rPr lang="en-US" sz="11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Node-RED collects data → Python inference</a:t>
            </a:r>
          </a:p>
        </p:txBody>
      </p:sp>
      <p:sp>
        <p:nvSpPr>
          <p:cNvPr id="37" name="Shape 35"/>
          <p:cNvSpPr/>
          <p:nvPr/>
        </p:nvSpPr>
        <p:spPr>
          <a:xfrm>
            <a:off x="4754880" y="3429000"/>
            <a:ext cx="4069080" cy="86868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3429000"/>
            <a:ext cx="64008" cy="8686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64608" y="34564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ourier New" pitchFamily="49" charset="0"/>
                <a:cs typeface="Courier New" pitchFamily="49" charset="0"/>
              </a:rPr>
              <a:t>Step 3 — Data Pipeline</a:t>
            </a:r>
            <a:endParaRPr lang="en-US" sz="1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864608" y="37307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Sensor → Node-RED → Random Forest → InfluxDB</a:t>
            </a:r>
            <a:r>
              <a:rPr lang="en-US" sz="10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→ Grafana</a:t>
            </a:r>
          </a:p>
        </p:txBody>
      </p:sp>
      <p:sp>
        <p:nvSpPr>
          <p:cNvPr id="41" name="Shape 39"/>
          <p:cNvSpPr/>
          <p:nvPr/>
        </p:nvSpPr>
        <p:spPr>
          <a:xfrm>
            <a:off x="4754880" y="4196837"/>
            <a:ext cx="4069080" cy="594360"/>
          </a:xfrm>
          <a:prstGeom prst="rect">
            <a:avLst/>
          </a:prstGeom>
          <a:solidFill>
            <a:srgbClr val="21262D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4069080"/>
            <a:ext cx="3931920" cy="59436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800" dirty="0">
                <a:solidFill>
                  <a:srgbClr val="FFFFFF"/>
                </a:solidFill>
              </a:rPr>
              <a:t>✅  </a:t>
            </a:r>
            <a:r>
              <a:rPr lang="en-US" sz="8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Validation:</a:t>
            </a:r>
          </a:p>
          <a:p>
            <a:r>
              <a:rPr lang="en-US" sz="8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Modbus → InfluxDB</a:t>
            </a:r>
            <a:r>
              <a:rPr lang="en-US" sz="8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→ Grafana → Cloud → ML → Web Platform</a:t>
            </a:r>
          </a:p>
        </p:txBody>
      </p:sp>
      <p:sp>
        <p:nvSpPr>
          <p:cNvPr id="43" name="Shape 4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pPr algn="ctr"/>
            <a:r>
              <a:rPr lang="en-US" sz="800" dirty="0">
                <a:solidFill>
                  <a:srgbClr val="8B949E"/>
                </a:solidFill>
              </a:rPr>
              <a:t>Smart IoT Environmental Monitoring  |  Giganti della Sila Park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9A8"/>
          </a:solidFill>
          <a:ln w="12700">
            <a:solidFill>
              <a:srgbClr val="00D9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Arial Black" pitchFamily="34" charset="-122"/>
                <a:cs typeface="Arial Black" pitchFamily="34" charset="-120"/>
              </a:rPr>
              <a:t>Conclusion &amp; Future Work</a:t>
            </a:r>
            <a:endParaRPr lang="en-US" sz="2000" dirty="0">
              <a:latin typeface="Trebuchet MS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5029200" cy="3200400"/>
          </a:xfrm>
          <a:prstGeom prst="rect">
            <a:avLst/>
          </a:prstGeom>
          <a:solidFill>
            <a:srgbClr val="1C2333"/>
          </a:solidFill>
          <a:ln w="19050">
            <a:solidFill>
              <a:srgbClr val="00D9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777240"/>
            <a:ext cx="5029200" cy="365760"/>
          </a:xfrm>
          <a:prstGeom prst="rect">
            <a:avLst/>
          </a:prstGeom>
          <a:solidFill>
            <a:srgbClr val="00D9A8"/>
          </a:solidFill>
          <a:ln w="12700">
            <a:solidFill>
              <a:srgbClr val="00D9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9552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D1117"/>
                </a:solidFill>
                <a:latin typeface="Trebuchet MS" pitchFamily="34" charset="0"/>
              </a:rPr>
              <a:t>What We Built</a:t>
            </a:r>
            <a:endParaRPr lang="en-US" sz="1600" dirty="0">
              <a:latin typeface="Trebuchet MS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4754880" cy="2526922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endParaRPr lang="en-US" sz="1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4754880" cy="393192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pPr>
              <a:buSzPct val="100000"/>
            </a:pPr>
            <a:endParaRPr lang="en-US" sz="1000" dirty="0">
              <a:solidFill>
                <a:srgbClr val="E6EDF3"/>
              </a:solidFill>
              <a:latin typeface="Courier New" pitchFamily="49" charset="0"/>
              <a:cs typeface="Courier New" pitchFamily="49" charset="0"/>
            </a:endParaRPr>
          </a:p>
          <a:p>
            <a:pPr marL="342875" indent="-342875">
              <a:buSzPct val="100000"/>
              <a:buChar char="•"/>
            </a:pPr>
            <a:r>
              <a:rPr lang="en-GB" sz="12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This project demonstrates a scalable IoT-based environmental monitoring system using the Robustel EG5120 gateway and S6000U sensor with edge machine learning. It enables real-time data collection, intelligent processing, and cloud integration, proving the feasibility of reliable edge-based environmental analytics.</a:t>
            </a:r>
            <a:endParaRPr lang="en-US" sz="1200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65760" y="2359152"/>
            <a:ext cx="4754880" cy="393192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pPr marL="342875" indent="-342875">
              <a:buSzPct val="100000"/>
              <a:buChar char="•"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798064"/>
            <a:ext cx="4754880" cy="393192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pPr marL="342875" indent="-342875">
              <a:buSzPct val="100000"/>
              <a:buChar char="•"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3236976"/>
            <a:ext cx="4754880" cy="393192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pPr marL="342875" indent="-342875">
              <a:buSzPct val="100000"/>
              <a:buChar char="•"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3675888"/>
            <a:ext cx="4754880" cy="393192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pPr marL="342875" indent="-342875">
              <a:buSzPct val="100000"/>
              <a:buChar char="•"/>
            </a:pP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0" y="777240"/>
            <a:ext cx="3429000" cy="3200400"/>
          </a:xfrm>
          <a:prstGeom prst="rect">
            <a:avLst/>
          </a:prstGeom>
          <a:solidFill>
            <a:srgbClr val="1C2333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777240"/>
            <a:ext cx="3429000" cy="365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795528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</a:rPr>
              <a:t>🚀  Future Work</a:t>
            </a:r>
            <a:endParaRPr lang="en-US" sz="1600" dirty="0">
              <a:latin typeface="Trebuchet MS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623560" y="1665148"/>
            <a:ext cx="3246120" cy="45720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pPr>
              <a:buSzPct val="100000"/>
            </a:pPr>
            <a:r>
              <a:rPr lang="en-US" sz="12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Mobile </a:t>
            </a:r>
            <a:r>
              <a:rPr lang="en-US" sz="12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App for </a:t>
            </a:r>
            <a:r>
              <a:rPr lang="en-US" sz="12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visitors with real-time trail recommendations And Real-time updates</a:t>
            </a:r>
            <a:endParaRPr lang="en-US" sz="1200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577840" y="1764792"/>
            <a:ext cx="3246120" cy="45720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577840" y="2295144"/>
            <a:ext cx="3246120" cy="45720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577840" y="2825496"/>
            <a:ext cx="3246120" cy="45720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577840" y="3355848"/>
            <a:ext cx="3246120" cy="45720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" y="4114800"/>
            <a:ext cx="8686800" cy="6858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114800"/>
            <a:ext cx="8503920" cy="68580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pPr algn="ctr"/>
            <a:r>
              <a:rPr lang="en-US" sz="1200" b="1" dirty="0">
                <a:solidFill>
                  <a:srgbClr val="00D9A8"/>
                </a:solidFill>
              </a:rPr>
              <a:t>📦  github.com/yonasyifter/IoT_ProjectWeatherForcast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91434" tIns="45717" rIns="91434" bIns="45717" rtlCol="0" anchor="ctr"/>
          <a:lstStyle/>
          <a:p>
            <a:pPr algn="ctr"/>
            <a:r>
              <a:rPr lang="en-US" sz="800" dirty="0">
                <a:solidFill>
                  <a:srgbClr val="8B949E"/>
                </a:solidFill>
              </a:rPr>
              <a:t>Smart IoT Environmental Monitoring  |  Giganti della Sila Park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1083</Words>
  <Application>Microsoft Office PowerPoint</Application>
  <PresentationFormat>On-screen Show (16:9)</PresentationFormat>
  <Paragraphs>234</Paragraphs>
  <Slides>17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Office Theme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 R A F A N 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IoT Environmental Monitoring</dc:title>
  <dc:subject>PptxGenJS Presentation</dc:subject>
  <dc:creator>Telecommunication Engineering Program</dc:creator>
  <cp:lastModifiedBy>HP</cp:lastModifiedBy>
  <cp:revision>15</cp:revision>
  <dcterms:created xsi:type="dcterms:W3CDTF">2026-02-24T13:38:39Z</dcterms:created>
  <dcterms:modified xsi:type="dcterms:W3CDTF">2026-02-24T16:19:36Z</dcterms:modified>
</cp:coreProperties>
</file>